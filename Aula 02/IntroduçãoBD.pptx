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Calibri (MS)" charset="1" panose="020F0502020204030204"/>
      <p:regular r:id="rId24"/>
    </p:embeddedFont>
    <p:embeddedFont>
      <p:font typeface="Calibri (MS) Bold" charset="1" panose="020F070203040403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2" Target="../media/image2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jpeg" Type="http://schemas.openxmlformats.org/officeDocument/2006/relationships/image"/><Relationship Id="rId6" Target="../media/image1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9.jpeg" Type="http://schemas.openxmlformats.org/officeDocument/2006/relationships/image"/><Relationship Id="rId4" Target="../media/image2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5.jpeg" Type="http://schemas.openxmlformats.org/officeDocument/2006/relationships/image"/><Relationship Id="rId4" Target="../media/image26.jpeg" Type="http://schemas.openxmlformats.org/officeDocument/2006/relationships/image"/><Relationship Id="rId5" Target="../media/image27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8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9050"/>
            <a:ext cx="18305583" cy="10287000"/>
            <a:chOff x="0" y="0"/>
            <a:chExt cx="24407444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749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407495">
                  <a:moveTo>
                    <a:pt x="0" y="0"/>
                  </a:moveTo>
                  <a:lnTo>
                    <a:pt x="24407495" y="0"/>
                  </a:lnTo>
                  <a:lnTo>
                    <a:pt x="24407495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8" r="0" b="-48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49698" y="7438556"/>
            <a:ext cx="6727869" cy="2017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9DC3E6"/>
                </a:solidFill>
                <a:latin typeface="Calibri (MS)"/>
                <a:ea typeface="Calibri (MS)"/>
                <a:cs typeface="Calibri (MS)"/>
                <a:sym typeface="Calibri (MS)"/>
              </a:rPr>
              <a:t>Introdução a Banco de Dados Relacionais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9698" y="131445"/>
            <a:ext cx="5725554" cy="8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9DC3E6"/>
                </a:solidFill>
                <a:latin typeface="Calibri (MS)"/>
                <a:ea typeface="Calibri (MS)"/>
                <a:cs typeface="Calibri (MS)"/>
                <a:sym typeface="Calibri (MS)"/>
              </a:rPr>
              <a:t>Banco de Dados – C07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9698" y="882510"/>
            <a:ext cx="3602212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9DC3E6"/>
                </a:solidFill>
                <a:latin typeface="Calibri (MS)"/>
                <a:ea typeface="Calibri (MS)"/>
                <a:cs typeface="Calibri (MS)"/>
                <a:sym typeface="Calibri (MS)"/>
              </a:rPr>
              <a:t>Felipe Silva Loschi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9698" y="9398954"/>
            <a:ext cx="409066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9DC3E6"/>
                </a:solidFill>
                <a:latin typeface="Calibri (MS)"/>
                <a:ea typeface="Calibri (MS)"/>
                <a:cs typeface="Calibri (MS)"/>
                <a:sym typeface="Calibri (MS)"/>
              </a:rPr>
              <a:t>Material: Felipe Tagawa Reis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71732" y="234753"/>
            <a:ext cx="13414419" cy="421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Instalação do MySQL Workbench</a:t>
            </a:r>
          </a:p>
          <a:p>
            <a:pPr algn="l">
              <a:lnSpc>
                <a:spcPts val="3240"/>
              </a:lnSpc>
            </a:pP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Vídeo com os detalhes da instalação no canal do Teams.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Arquivo com todos os detalhes no TEAMS ou no meu repositório da disciplina no Github.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IMPORTANTE: para facilitar entradas posteriores (principalmente no projeto), recomendo colocar o </a:t>
            </a:r>
            <a:r>
              <a:rPr lang="en-US" b="true" sz="2700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nome de usuário e senha como “root”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Vídeo e material de consulta para instalação do programa já em ‘Aula 02’ no Teams.</a:t>
            </a:r>
          </a:p>
          <a:p>
            <a:pPr algn="l" marL="488632" indent="-244316" lvl="1">
              <a:lnSpc>
                <a:spcPts val="3240"/>
              </a:lnSpc>
            </a:pPr>
          </a:p>
          <a:p>
            <a:pPr algn="l" marL="488632" indent="-244316" lvl="1">
              <a:lnSpc>
                <a:spcPts val="324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72889" y="2155146"/>
            <a:ext cx="6072845" cy="3991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São sistemas de gerenciamento e armazenamento de dados em tabelas estruturadas com linhas e colunas, onde as informações são distribuídas e organizadas de forma lógica e inter-relacionada.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471868" y="1872758"/>
            <a:ext cx="9213856" cy="7394391"/>
            <a:chOff x="0" y="0"/>
            <a:chExt cx="12285142" cy="98591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85091" cy="9859137"/>
            </a:xfrm>
            <a:custGeom>
              <a:avLst/>
              <a:gdLst/>
              <a:ahLst/>
              <a:cxnLst/>
              <a:rect r="r" b="b" t="t" l="l"/>
              <a:pathLst>
                <a:path h="9859137" w="12285091">
                  <a:moveTo>
                    <a:pt x="0" y="0"/>
                  </a:moveTo>
                  <a:lnTo>
                    <a:pt x="12285091" y="0"/>
                  </a:lnTo>
                  <a:lnTo>
                    <a:pt x="12285091" y="9859137"/>
                  </a:lnTo>
                  <a:lnTo>
                    <a:pt x="0" y="98591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62758" y="6746577"/>
            <a:ext cx="6493116" cy="3104874"/>
            <a:chOff x="0" y="0"/>
            <a:chExt cx="8657488" cy="4139832"/>
          </a:xfrm>
        </p:grpSpPr>
        <p:sp>
          <p:nvSpPr>
            <p:cNvPr name="Freeform 8" id="8" descr="ANÁLISE COMPARATIVA ENTRE BANCO DE DADOS RELACIONAL E NEWSQL EM UM SISTEMA  DE PEQUENO PORTE"/>
            <p:cNvSpPr/>
            <p:nvPr/>
          </p:nvSpPr>
          <p:spPr>
            <a:xfrm flipH="false" flipV="false" rot="0">
              <a:off x="0" y="0"/>
              <a:ext cx="8657463" cy="4139819"/>
            </a:xfrm>
            <a:custGeom>
              <a:avLst/>
              <a:gdLst/>
              <a:ahLst/>
              <a:cxnLst/>
              <a:rect r="r" b="b" t="t" l="l"/>
              <a:pathLst>
                <a:path h="4139819" w="8657463">
                  <a:moveTo>
                    <a:pt x="0" y="0"/>
                  </a:moveTo>
                  <a:lnTo>
                    <a:pt x="8657463" y="0"/>
                  </a:lnTo>
                  <a:lnTo>
                    <a:pt x="8657463" y="4139819"/>
                  </a:lnTo>
                  <a:lnTo>
                    <a:pt x="0" y="4139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5443757" y="500720"/>
            <a:ext cx="7400487" cy="8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Bancos de Dados Relacionais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338123" y="2004203"/>
            <a:ext cx="1478871" cy="8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Prós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69261" y="602866"/>
            <a:ext cx="3749478" cy="8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Prós e Contras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42356" y="2004203"/>
            <a:ext cx="2107521" cy="8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Contras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38773" y="3524240"/>
            <a:ext cx="8503920" cy="4841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Escala Vertical (Baixa Escalabilidade);</a:t>
            </a: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Esquema Rígido (Pouca Flexibilidade);</a:t>
            </a: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Menor Desempenho em cenários Big Data – Exemplo do Post do Instagram.</a:t>
            </a:r>
          </a:p>
          <a:p>
            <a:pPr algn="l" marL="760095" indent="-380048" lvl="1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720215" y="3524240"/>
            <a:ext cx="6714687" cy="3779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Garantia </a:t>
            </a:r>
            <a:r>
              <a:rPr lang="en-US" b="true" sz="4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ACID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– Segurança e Consistência;</a:t>
            </a: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Sistema Robusto de consultas;</a:t>
            </a: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Padronização – Estabilidade.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53158" y="650462"/>
            <a:ext cx="4181675" cy="8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Transações ACID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70849" y="2218087"/>
            <a:ext cx="13546312" cy="5765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(Atomicidade)</a:t>
            </a:r>
          </a:p>
          <a:p>
            <a:pPr algn="l" marL="542925" indent="-271462" lvl="1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	- Atomicidade trata das transações serem indivisíveis;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 (Consistência)</a:t>
            </a:r>
          </a:p>
          <a:p>
            <a:pPr algn="l" marL="542925" indent="-271462" lvl="1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	- Integridade geral dos dados;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 (Isolamento)</a:t>
            </a:r>
          </a:p>
          <a:p>
            <a:pPr algn="l" marL="542925" indent="-271462" lvl="1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	- Impossibilidade de interferência entre transações;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 (Durabilidade)</a:t>
            </a:r>
          </a:p>
          <a:p>
            <a:pPr algn="l" marL="542925" indent="-271462" lvl="1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	- Disponibilidade dos Dados, mesmo em casos adversos.</a:t>
            </a:r>
          </a:p>
          <a:p>
            <a:pPr algn="l" marL="542925" indent="-271462" lvl="1">
              <a:lnSpc>
                <a:spcPts val="3600"/>
              </a:lnSpc>
            </a:pPr>
          </a:p>
          <a:p>
            <a:pPr algn="l" marL="542925" indent="-271462" lvl="1">
              <a:lnSpc>
                <a:spcPts val="36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905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134112" y="692287"/>
            <a:ext cx="2336121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Tabelas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08157" y="3526279"/>
            <a:ext cx="2929347" cy="3415189"/>
            <a:chOff x="0" y="0"/>
            <a:chExt cx="3905796" cy="45535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05758" cy="4553585"/>
            </a:xfrm>
            <a:custGeom>
              <a:avLst/>
              <a:gdLst/>
              <a:ahLst/>
              <a:cxnLst/>
              <a:rect r="r" b="b" t="t" l="l"/>
              <a:pathLst>
                <a:path h="4553585" w="3905758">
                  <a:moveTo>
                    <a:pt x="0" y="0"/>
                  </a:moveTo>
                  <a:lnTo>
                    <a:pt x="3905758" y="0"/>
                  </a:lnTo>
                  <a:lnTo>
                    <a:pt x="3905758" y="4553585"/>
                  </a:lnTo>
                  <a:lnTo>
                    <a:pt x="0" y="4553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302172" y="3785092"/>
            <a:ext cx="7984941" cy="3061449"/>
            <a:chOff x="0" y="0"/>
            <a:chExt cx="10646588" cy="40819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46537" cy="4081907"/>
            </a:xfrm>
            <a:custGeom>
              <a:avLst/>
              <a:gdLst/>
              <a:ahLst/>
              <a:cxnLst/>
              <a:rect r="r" b="b" t="t" l="l"/>
              <a:pathLst>
                <a:path h="4081907" w="10646537">
                  <a:moveTo>
                    <a:pt x="0" y="0"/>
                  </a:moveTo>
                  <a:lnTo>
                    <a:pt x="10646537" y="0"/>
                  </a:lnTo>
                  <a:lnTo>
                    <a:pt x="10646537" y="4081907"/>
                  </a:lnTo>
                  <a:lnTo>
                    <a:pt x="0" y="40819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740" t="0" r="-13741" b="0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 rot="8820">
            <a:off x="4835395" y="5160559"/>
            <a:ext cx="3702310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triangle" len="med" w="lg"/>
            <a:tailEnd type="triangle" len="med" w="lg"/>
          </a:ln>
        </p:spPr>
      </p:sp>
      <p:sp>
        <p:nvSpPr>
          <p:cNvPr name="TextBox 10" id="10"/>
          <p:cNvSpPr txBox="true"/>
          <p:nvPr/>
        </p:nvSpPr>
        <p:spPr>
          <a:xfrm rot="0">
            <a:off x="1938109" y="6930038"/>
            <a:ext cx="1869434" cy="935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Modelo do Workbench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18337" y="7327754"/>
            <a:ext cx="2152612" cy="53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Tabela Simples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431794" y="869366"/>
            <a:ext cx="5424411" cy="1823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Tipos de Dados mais Utilizados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97553" y="3218764"/>
            <a:ext cx="2845041" cy="2641016"/>
            <a:chOff x="0" y="0"/>
            <a:chExt cx="3793388" cy="35213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93388" cy="3521354"/>
            </a:xfrm>
            <a:custGeom>
              <a:avLst/>
              <a:gdLst/>
              <a:ahLst/>
              <a:cxnLst/>
              <a:rect r="r" b="b" t="t" l="l"/>
              <a:pathLst>
                <a:path h="3521354" w="3793388">
                  <a:moveTo>
                    <a:pt x="0" y="0"/>
                  </a:moveTo>
                  <a:lnTo>
                    <a:pt x="3793388" y="0"/>
                  </a:lnTo>
                  <a:lnTo>
                    <a:pt x="3793388" y="3521354"/>
                  </a:lnTo>
                  <a:lnTo>
                    <a:pt x="0" y="3521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21920" y="3810"/>
              <a:ext cx="3549548" cy="34565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Numéricos</a:t>
              </a:r>
            </a:p>
            <a:p>
              <a:pPr algn="l">
                <a:lnSpc>
                  <a:spcPts val="3240"/>
                </a:lnSpc>
              </a:pP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INTEGER(INT);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DECIMAL(i,j);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FLOAT(j);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DOUBLE.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97553" y="6643554"/>
            <a:ext cx="2845041" cy="2225516"/>
            <a:chOff x="0" y="0"/>
            <a:chExt cx="3793388" cy="29673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93388" cy="2967355"/>
            </a:xfrm>
            <a:custGeom>
              <a:avLst/>
              <a:gdLst/>
              <a:ahLst/>
              <a:cxnLst/>
              <a:rect r="r" b="b" t="t" l="l"/>
              <a:pathLst>
                <a:path h="2967355" w="3793388">
                  <a:moveTo>
                    <a:pt x="0" y="0"/>
                  </a:moveTo>
                  <a:lnTo>
                    <a:pt x="3793388" y="0"/>
                  </a:lnTo>
                  <a:lnTo>
                    <a:pt x="3793388" y="2967355"/>
                  </a:lnTo>
                  <a:lnTo>
                    <a:pt x="0" y="2967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21920" y="3810"/>
              <a:ext cx="3549548" cy="29025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String</a:t>
              </a:r>
            </a:p>
            <a:p>
              <a:pPr algn="l">
                <a:lnSpc>
                  <a:spcPts val="3240"/>
                </a:lnSpc>
              </a:pP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CHAR(n);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VARCHAR(n);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TEXT.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77799" y="3218764"/>
            <a:ext cx="1974609" cy="1810017"/>
            <a:chOff x="0" y="0"/>
            <a:chExt cx="2632812" cy="24133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32812" cy="2413356"/>
            </a:xfrm>
            <a:custGeom>
              <a:avLst/>
              <a:gdLst/>
              <a:ahLst/>
              <a:cxnLst/>
              <a:rect r="r" b="b" t="t" l="l"/>
              <a:pathLst>
                <a:path h="2413356" w="2632812">
                  <a:moveTo>
                    <a:pt x="0" y="0"/>
                  </a:moveTo>
                  <a:lnTo>
                    <a:pt x="2632812" y="0"/>
                  </a:lnTo>
                  <a:lnTo>
                    <a:pt x="2632812" y="2413356"/>
                  </a:lnTo>
                  <a:lnTo>
                    <a:pt x="0" y="2413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21920" y="3810"/>
              <a:ext cx="2388972" cy="2348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e Hora</a:t>
              </a:r>
            </a:p>
            <a:p>
              <a:pPr algn="l">
                <a:lnSpc>
                  <a:spcPts val="3240"/>
                </a:lnSpc>
              </a:pP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DATE;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TIME;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318340" y="4043096"/>
            <a:ext cx="2705395" cy="935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i: dígitos totais;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j: dígitos decimais.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81023" y="7052386"/>
            <a:ext cx="11990070" cy="1350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CHAR é FIXO em </a:t>
            </a:r>
            <a:r>
              <a:rPr lang="en-US" b="true" sz="2700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 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caracteres!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VARCHAR aceita </a:t>
            </a:r>
            <a:r>
              <a:rPr lang="en-US" b="true" sz="2700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até n 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caracteres!</a:t>
            </a:r>
          </a:p>
          <a:p>
            <a:pPr algn="just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TEXT não tem quantidade fixa, é bastante usado para textos e descrições </a:t>
            </a:r>
            <a:r>
              <a:rPr lang="en-US" b="true" sz="2700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extensos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94070" y="3664144"/>
            <a:ext cx="3285687" cy="935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DATE (YYYY-MM-DD);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TIME (HH:MM:SS).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977799" y="5850255"/>
            <a:ext cx="2409825" cy="1394517"/>
            <a:chOff x="0" y="0"/>
            <a:chExt cx="3213100" cy="18593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13100" cy="1859356"/>
            </a:xfrm>
            <a:custGeom>
              <a:avLst/>
              <a:gdLst/>
              <a:ahLst/>
              <a:cxnLst/>
              <a:rect r="r" b="b" t="t" l="l"/>
              <a:pathLst>
                <a:path h="1859356" w="3213100">
                  <a:moveTo>
                    <a:pt x="0" y="0"/>
                  </a:moveTo>
                  <a:lnTo>
                    <a:pt x="3213100" y="0"/>
                  </a:lnTo>
                  <a:lnTo>
                    <a:pt x="3213100" y="1859356"/>
                  </a:lnTo>
                  <a:lnTo>
                    <a:pt x="0" y="1859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121920" y="3810"/>
              <a:ext cx="2969260" cy="1794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Lógico</a:t>
              </a:r>
            </a:p>
            <a:p>
              <a:pPr algn="l">
                <a:lnSpc>
                  <a:spcPts val="3240"/>
                </a:lnSpc>
              </a:pP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BOOLEAN.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431794" y="678809"/>
            <a:ext cx="5424411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CHAR x VARCHAR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52538" y="500663"/>
            <a:ext cx="3711083" cy="2225516"/>
            <a:chOff x="0" y="0"/>
            <a:chExt cx="4948110" cy="29673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48110" cy="2967355"/>
            </a:xfrm>
            <a:custGeom>
              <a:avLst/>
              <a:gdLst/>
              <a:ahLst/>
              <a:cxnLst/>
              <a:rect r="r" b="b" t="t" l="l"/>
              <a:pathLst>
                <a:path h="2967355" w="4948110">
                  <a:moveTo>
                    <a:pt x="0" y="0"/>
                  </a:moveTo>
                  <a:lnTo>
                    <a:pt x="4948110" y="0"/>
                  </a:lnTo>
                  <a:lnTo>
                    <a:pt x="4948110" y="2967355"/>
                  </a:lnTo>
                  <a:lnTo>
                    <a:pt x="0" y="2967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21920" y="3810"/>
              <a:ext cx="4704270" cy="29025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String</a:t>
              </a:r>
            </a:p>
            <a:p>
              <a:pPr algn="l">
                <a:lnSpc>
                  <a:spcPts val="3240"/>
                </a:lnSpc>
              </a:pP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CHAR(n);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VARCHAR(n);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TEXT.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54067" y="1364923"/>
            <a:ext cx="2057400" cy="909999"/>
            <a:chOff x="0" y="0"/>
            <a:chExt cx="2743200" cy="1213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43200" cy="1213358"/>
            </a:xfrm>
            <a:custGeom>
              <a:avLst/>
              <a:gdLst/>
              <a:ahLst/>
              <a:cxnLst/>
              <a:rect r="r" b="b" t="t" l="l"/>
              <a:pathLst>
                <a:path h="1213358" w="2743200">
                  <a:moveTo>
                    <a:pt x="0" y="202184"/>
                  </a:moveTo>
                  <a:cubicBezTo>
                    <a:pt x="0" y="90551"/>
                    <a:pt x="90551" y="0"/>
                    <a:pt x="202184" y="0"/>
                  </a:cubicBezTo>
                  <a:lnTo>
                    <a:pt x="2541016" y="0"/>
                  </a:lnTo>
                  <a:cubicBezTo>
                    <a:pt x="2652649" y="0"/>
                    <a:pt x="2743200" y="90551"/>
                    <a:pt x="2743200" y="202184"/>
                  </a:cubicBezTo>
                  <a:lnTo>
                    <a:pt x="2743200" y="1011174"/>
                  </a:lnTo>
                  <a:cubicBezTo>
                    <a:pt x="2743200" y="1122807"/>
                    <a:pt x="2652649" y="1213358"/>
                    <a:pt x="2541016" y="1213358"/>
                  </a:cubicBezTo>
                  <a:lnTo>
                    <a:pt x="202184" y="1213358"/>
                  </a:lnTo>
                  <a:cubicBezTo>
                    <a:pt x="90551" y="1213358"/>
                    <a:pt x="0" y="1122807"/>
                    <a:pt x="0" y="1011174"/>
                  </a:cubicBezTo>
                  <a:close/>
                </a:path>
              </a:pathLst>
            </a:custGeom>
            <a:solidFill>
              <a:srgbClr val="ED7D31">
                <a:alpha val="24706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54067" y="4049592"/>
            <a:ext cx="6972300" cy="5114925"/>
            <a:chOff x="0" y="0"/>
            <a:chExt cx="9296400" cy="6819900"/>
          </a:xfrm>
        </p:grpSpPr>
        <p:sp>
          <p:nvSpPr>
            <p:cNvPr name="Freeform 11" id="11" descr="Caixa Tampa Sapato Medida: 20x30x12 - 3mm"/>
            <p:cNvSpPr/>
            <p:nvPr/>
          </p:nvSpPr>
          <p:spPr>
            <a:xfrm flipH="false" flipV="false" rot="0">
              <a:off x="0" y="0"/>
              <a:ext cx="9296400" cy="6819900"/>
            </a:xfrm>
            <a:custGeom>
              <a:avLst/>
              <a:gdLst/>
              <a:ahLst/>
              <a:cxnLst/>
              <a:rect r="r" b="b" t="t" l="l"/>
              <a:pathLst>
                <a:path h="6819900" w="9296400">
                  <a:moveTo>
                    <a:pt x="0" y="0"/>
                  </a:moveTo>
                  <a:lnTo>
                    <a:pt x="9296400" y="0"/>
                  </a:lnTo>
                  <a:lnTo>
                    <a:pt x="9296400" y="6819900"/>
                  </a:lnTo>
                  <a:lnTo>
                    <a:pt x="0" y="6819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014015" y="3745525"/>
            <a:ext cx="5519918" cy="5519918"/>
            <a:chOff x="0" y="0"/>
            <a:chExt cx="7359891" cy="7359891"/>
          </a:xfrm>
        </p:grpSpPr>
        <p:sp>
          <p:nvSpPr>
            <p:cNvPr name="Freeform 13" id="13" descr="Mochila Saco em TNT CB 18505 | Célo Presentes Personalizados"/>
            <p:cNvSpPr/>
            <p:nvPr/>
          </p:nvSpPr>
          <p:spPr>
            <a:xfrm flipH="false" flipV="false" rot="0">
              <a:off x="0" y="0"/>
              <a:ext cx="7359904" cy="7359904"/>
            </a:xfrm>
            <a:custGeom>
              <a:avLst/>
              <a:gdLst/>
              <a:ahLst/>
              <a:cxnLst/>
              <a:rect r="r" b="b" t="t" l="l"/>
              <a:pathLst>
                <a:path h="7359904" w="7359904">
                  <a:moveTo>
                    <a:pt x="0" y="0"/>
                  </a:moveTo>
                  <a:lnTo>
                    <a:pt x="7359904" y="0"/>
                  </a:lnTo>
                  <a:lnTo>
                    <a:pt x="7359904" y="7359904"/>
                  </a:lnTo>
                  <a:lnTo>
                    <a:pt x="0" y="7359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4639256" y="9446895"/>
            <a:ext cx="1201912" cy="667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CHAR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29432" y="9319993"/>
            <a:ext cx="1889084" cy="667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VARCHAR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202002" y="6484525"/>
            <a:ext cx="1143933" cy="575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Molde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550110" y="5436518"/>
            <a:ext cx="3380203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Caixa de tamanho Fixo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525341" y="537905"/>
            <a:ext cx="3123028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Null X Zero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73039" y="2496026"/>
            <a:ext cx="4969412" cy="2025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	     Null</a:t>
            </a:r>
          </a:p>
          <a:p>
            <a:pPr algn="l">
              <a:lnSpc>
                <a:spcPts val="3240"/>
              </a:lnSpc>
            </a:pPr>
          </a:p>
          <a:p>
            <a:pPr algn="ctr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É a </a:t>
            </a: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ausência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valor, indicando que o valor é desconhecido.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31249" y="2288276"/>
            <a:ext cx="4745212" cy="244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	    Zero</a:t>
            </a:r>
          </a:p>
          <a:p>
            <a:pPr algn="l">
              <a:lnSpc>
                <a:spcPts val="3240"/>
              </a:lnSpc>
            </a:pPr>
          </a:p>
          <a:p>
            <a:pPr algn="ctr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É um valor numérico </a:t>
            </a: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definido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indicando que o valor foi preenchido.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624919" y="4849235"/>
            <a:ext cx="4458033" cy="4484942"/>
            <a:chOff x="0" y="0"/>
            <a:chExt cx="5944044" cy="5979922"/>
          </a:xfrm>
        </p:grpSpPr>
        <p:sp>
          <p:nvSpPr>
            <p:cNvPr name="Freeform 8" id="8" descr="Suporte Papeleira Com Tampa Para Papel Higiénico Aço Inox"/>
            <p:cNvSpPr/>
            <p:nvPr/>
          </p:nvSpPr>
          <p:spPr>
            <a:xfrm flipH="false" flipV="false" rot="0">
              <a:off x="0" y="0"/>
              <a:ext cx="5943981" cy="5979922"/>
            </a:xfrm>
            <a:custGeom>
              <a:avLst/>
              <a:gdLst/>
              <a:ahLst/>
              <a:cxnLst/>
              <a:rect r="r" b="b" t="t" l="l"/>
              <a:pathLst>
                <a:path h="5979922" w="5943981">
                  <a:moveTo>
                    <a:pt x="0" y="0"/>
                  </a:moveTo>
                  <a:lnTo>
                    <a:pt x="5943981" y="0"/>
                  </a:lnTo>
                  <a:lnTo>
                    <a:pt x="5943981" y="5979922"/>
                  </a:lnTo>
                  <a:lnTo>
                    <a:pt x="0" y="59799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205058" y="4849235"/>
            <a:ext cx="4343695" cy="4407027"/>
            <a:chOff x="0" y="0"/>
            <a:chExt cx="5791594" cy="5876036"/>
          </a:xfrm>
        </p:grpSpPr>
        <p:sp>
          <p:nvSpPr>
            <p:cNvPr name="Freeform 10" id="10" descr="Rolo de papel higiênico de papelão vazio isolado em um branco | Foto Premium"/>
            <p:cNvSpPr/>
            <p:nvPr/>
          </p:nvSpPr>
          <p:spPr>
            <a:xfrm flipH="false" flipV="false" rot="0">
              <a:off x="0" y="0"/>
              <a:ext cx="5791581" cy="5876036"/>
            </a:xfrm>
            <a:custGeom>
              <a:avLst/>
              <a:gdLst/>
              <a:ahLst/>
              <a:cxnLst/>
              <a:rect r="r" b="b" t="t" l="l"/>
              <a:pathLst>
                <a:path h="5876036" w="5791581">
                  <a:moveTo>
                    <a:pt x="0" y="0"/>
                  </a:moveTo>
                  <a:lnTo>
                    <a:pt x="5791581" y="0"/>
                  </a:lnTo>
                  <a:lnTo>
                    <a:pt x="5791581" y="5876036"/>
                  </a:lnTo>
                  <a:lnTo>
                    <a:pt x="0" y="58760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47962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90065" y="573034"/>
            <a:ext cx="4907871" cy="1823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Chaves Primárias (Primary Key/PK)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19132" y="2995536"/>
            <a:ext cx="14917912" cy="2597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É um ou mais campos (atributos) que identificam </a:t>
            </a: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unicamente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cada registro em uma tabela;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NÃO pode conter valores nulos (NULL) nem valores duplicados;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Cada tabela pode ter apenas uma chave primária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mas essa chave pode envolver </a:t>
            </a: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mais de um campo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— nesse caso, é chamada de </a:t>
            </a: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chave primária composta;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 relacionamentos entre tabelas, uma chave primária pode ser combinada com a chave estrangeira de outra tabela para compor uma chave — esse conceito será abordado posteriormente.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199465" y="6324124"/>
            <a:ext cx="2929347" cy="3415189"/>
            <a:chOff x="0" y="0"/>
            <a:chExt cx="3905796" cy="45535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05758" cy="4553585"/>
            </a:xfrm>
            <a:custGeom>
              <a:avLst/>
              <a:gdLst/>
              <a:ahLst/>
              <a:cxnLst/>
              <a:rect r="r" b="b" t="t" l="l"/>
              <a:pathLst>
                <a:path h="4553585" w="3905758">
                  <a:moveTo>
                    <a:pt x="0" y="0"/>
                  </a:moveTo>
                  <a:lnTo>
                    <a:pt x="3905758" y="0"/>
                  </a:lnTo>
                  <a:lnTo>
                    <a:pt x="3905758" y="4553585"/>
                  </a:lnTo>
                  <a:lnTo>
                    <a:pt x="0" y="4553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AutoShape 8" id="8"/>
          <p:cNvSpPr/>
          <p:nvPr/>
        </p:nvSpPr>
        <p:spPr>
          <a:xfrm rot="9060">
            <a:off x="3659372" y="7222512"/>
            <a:ext cx="3612242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9" id="9"/>
          <p:cNvSpPr txBox="true"/>
          <p:nvPr/>
        </p:nvSpPr>
        <p:spPr>
          <a:xfrm rot="0">
            <a:off x="7846257" y="6925704"/>
            <a:ext cx="2481186" cy="935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Chave Primária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 tabela pessoa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41805" y="841791"/>
            <a:ext cx="16604390" cy="8416509"/>
            <a:chOff x="0" y="0"/>
            <a:chExt cx="22139186" cy="1122201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39148" cy="11221974"/>
            </a:xfrm>
            <a:custGeom>
              <a:avLst/>
              <a:gdLst/>
              <a:ahLst/>
              <a:cxnLst/>
              <a:rect r="r" b="b" t="t" l="l"/>
              <a:pathLst>
                <a:path h="11221974" w="22139148">
                  <a:moveTo>
                    <a:pt x="0" y="0"/>
                  </a:moveTo>
                  <a:lnTo>
                    <a:pt x="22139148" y="0"/>
                  </a:lnTo>
                  <a:lnTo>
                    <a:pt x="22139148" y="11221974"/>
                  </a:lnTo>
                  <a:lnTo>
                    <a:pt x="0" y="11221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15959" y="3209677"/>
            <a:ext cx="5979433" cy="5529177"/>
            <a:chOff x="0" y="0"/>
            <a:chExt cx="7972577" cy="73722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972552" cy="7372223"/>
            </a:xfrm>
            <a:custGeom>
              <a:avLst/>
              <a:gdLst/>
              <a:ahLst/>
              <a:cxnLst/>
              <a:rect r="r" b="b" t="t" l="l"/>
              <a:pathLst>
                <a:path h="7372223" w="7972552">
                  <a:moveTo>
                    <a:pt x="0" y="0"/>
                  </a:moveTo>
                  <a:lnTo>
                    <a:pt x="7972552" y="0"/>
                  </a:lnTo>
                  <a:lnTo>
                    <a:pt x="7972552" y="7372223"/>
                  </a:lnTo>
                  <a:lnTo>
                    <a:pt x="0" y="7372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152384" y="644833"/>
            <a:ext cx="5979433" cy="5529177"/>
            <a:chOff x="0" y="0"/>
            <a:chExt cx="7972577" cy="73722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972552" cy="7372223"/>
            </a:xfrm>
            <a:custGeom>
              <a:avLst/>
              <a:gdLst/>
              <a:ahLst/>
              <a:cxnLst/>
              <a:rect r="r" b="b" t="t" l="l"/>
              <a:pathLst>
                <a:path h="7372223" w="7972552">
                  <a:moveTo>
                    <a:pt x="0" y="0"/>
                  </a:moveTo>
                  <a:lnTo>
                    <a:pt x="7972552" y="0"/>
                  </a:lnTo>
                  <a:lnTo>
                    <a:pt x="7972552" y="7372223"/>
                  </a:lnTo>
                  <a:lnTo>
                    <a:pt x="0" y="7372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5964" y="2056619"/>
            <a:ext cx="8680466" cy="4117381"/>
            <a:chOff x="0" y="0"/>
            <a:chExt cx="11573954" cy="54898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573891" cy="5489829"/>
            </a:xfrm>
            <a:custGeom>
              <a:avLst/>
              <a:gdLst/>
              <a:ahLst/>
              <a:cxnLst/>
              <a:rect r="r" b="b" t="t" l="l"/>
              <a:pathLst>
                <a:path h="5489829" w="11573891">
                  <a:moveTo>
                    <a:pt x="0" y="0"/>
                  </a:moveTo>
                  <a:lnTo>
                    <a:pt x="11573891" y="0"/>
                  </a:lnTo>
                  <a:lnTo>
                    <a:pt x="11573891" y="5489829"/>
                  </a:lnTo>
                  <a:lnTo>
                    <a:pt x="0" y="5489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88025" y="6818833"/>
            <a:ext cx="16511949" cy="2196446"/>
            <a:chOff x="0" y="0"/>
            <a:chExt cx="22015933" cy="29285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015958" cy="2928620"/>
            </a:xfrm>
            <a:custGeom>
              <a:avLst/>
              <a:gdLst/>
              <a:ahLst/>
              <a:cxnLst/>
              <a:rect r="r" b="b" t="t" l="l"/>
              <a:pathLst>
                <a:path h="2928620" w="22015958">
                  <a:moveTo>
                    <a:pt x="0" y="0"/>
                  </a:moveTo>
                  <a:lnTo>
                    <a:pt x="22015958" y="0"/>
                  </a:lnTo>
                  <a:lnTo>
                    <a:pt x="22015958" y="2928620"/>
                  </a:lnTo>
                  <a:lnTo>
                    <a:pt x="0" y="2928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27404" y="446884"/>
            <a:ext cx="4014807" cy="779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Chave Estrangeira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96816" y="933164"/>
            <a:ext cx="3841290" cy="5433641"/>
            <a:chOff x="0" y="0"/>
            <a:chExt cx="5121720" cy="7244855"/>
          </a:xfrm>
        </p:grpSpPr>
        <p:sp>
          <p:nvSpPr>
            <p:cNvPr name="Freeform 5" id="5" descr="11 Contratos de Aluguel simples e Curtos"/>
            <p:cNvSpPr/>
            <p:nvPr/>
          </p:nvSpPr>
          <p:spPr>
            <a:xfrm flipH="false" flipV="false" rot="0">
              <a:off x="0" y="0"/>
              <a:ext cx="5121656" cy="7244842"/>
            </a:xfrm>
            <a:custGeom>
              <a:avLst/>
              <a:gdLst/>
              <a:ahLst/>
              <a:cxnLst/>
              <a:rect r="r" b="b" t="t" l="l"/>
              <a:pathLst>
                <a:path h="7244842" w="5121656">
                  <a:moveTo>
                    <a:pt x="0" y="0"/>
                  </a:moveTo>
                  <a:lnTo>
                    <a:pt x="5121656" y="0"/>
                  </a:lnTo>
                  <a:lnTo>
                    <a:pt x="5121656" y="7244842"/>
                  </a:lnTo>
                  <a:lnTo>
                    <a:pt x="0" y="7244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607673" y="1391383"/>
            <a:ext cx="4543425" cy="4543425"/>
            <a:chOff x="0" y="0"/>
            <a:chExt cx="6057900" cy="6057900"/>
          </a:xfrm>
        </p:grpSpPr>
        <p:sp>
          <p:nvSpPr>
            <p:cNvPr name="Freeform 7" id="7" descr="Página 2 | Apartamento desenho png Imagens – Download Grátis no Freepik"/>
            <p:cNvSpPr/>
            <p:nvPr/>
          </p:nvSpPr>
          <p:spPr>
            <a:xfrm flipH="false" flipV="false" rot="0">
              <a:off x="0" y="0"/>
              <a:ext cx="6057900" cy="6057900"/>
            </a:xfrm>
            <a:custGeom>
              <a:avLst/>
              <a:gdLst/>
              <a:ahLst/>
              <a:cxnLst/>
              <a:rect r="r" b="b" t="t" l="l"/>
              <a:pathLst>
                <a:path h="6057900" w="6057900">
                  <a:moveTo>
                    <a:pt x="0" y="0"/>
                  </a:moveTo>
                  <a:lnTo>
                    <a:pt x="6057900" y="0"/>
                  </a:lnTo>
                  <a:lnTo>
                    <a:pt x="6057900" y="6057900"/>
                  </a:lnTo>
                  <a:lnTo>
                    <a:pt x="0" y="6057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589859" y="1955273"/>
            <a:ext cx="4433726" cy="3389433"/>
            <a:chOff x="0" y="0"/>
            <a:chExt cx="5911634" cy="4519244"/>
          </a:xfrm>
        </p:grpSpPr>
        <p:sp>
          <p:nvSpPr>
            <p:cNvPr name="Freeform 9" id="9" descr="Loiras caucasiano fêmea apartamento locatário Preto e branco 2d desenho  animado personagem. europeu adulto mulher recebendo chave isolado vetor  esboço pessoa. renda inquilino senhora monocromático plano local ilustração  35464860 Vetor no Vecteezy"/>
            <p:cNvSpPr/>
            <p:nvPr/>
          </p:nvSpPr>
          <p:spPr>
            <a:xfrm flipH="false" flipV="false" rot="0">
              <a:off x="0" y="0"/>
              <a:ext cx="5911596" cy="4519295"/>
            </a:xfrm>
            <a:custGeom>
              <a:avLst/>
              <a:gdLst/>
              <a:ahLst/>
              <a:cxnLst/>
              <a:rect r="r" b="b" t="t" l="l"/>
              <a:pathLst>
                <a:path h="4519295" w="5911596">
                  <a:moveTo>
                    <a:pt x="0" y="0"/>
                  </a:moveTo>
                  <a:lnTo>
                    <a:pt x="5911596" y="0"/>
                  </a:lnTo>
                  <a:lnTo>
                    <a:pt x="5911596" y="4519295"/>
                  </a:lnTo>
                  <a:lnTo>
                    <a:pt x="0" y="4519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1"/>
              </a:stretch>
            </a:blipFill>
          </p:spPr>
        </p:sp>
      </p:grpSp>
      <p:sp>
        <p:nvSpPr>
          <p:cNvPr name="AutoShape 10" id="10"/>
          <p:cNvSpPr/>
          <p:nvPr/>
        </p:nvSpPr>
        <p:spPr>
          <a:xfrm rot="-16140">
            <a:off x="5033334" y="3645227"/>
            <a:ext cx="2027272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1" id="11"/>
          <p:cNvSpPr txBox="true"/>
          <p:nvPr/>
        </p:nvSpPr>
        <p:spPr>
          <a:xfrm rot="0">
            <a:off x="5129546" y="3717608"/>
            <a:ext cx="1834839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Depende de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83709" y="367741"/>
            <a:ext cx="3267513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Chave Estrangeira (FK)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69047" y="367741"/>
            <a:ext cx="2230612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Chave Primária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933400" y="367741"/>
            <a:ext cx="1333795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Entidade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3615" y="6701209"/>
            <a:ext cx="15049795" cy="384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Perguntas:</a:t>
            </a:r>
          </a:p>
          <a:p>
            <a:pPr algn="l">
              <a:lnSpc>
                <a:spcPts val="3240"/>
              </a:lnSpc>
            </a:pP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Podemos deletar o apartamento enquanto houver um morador residindo lá dentro? R: Não, precisamos primeiro resolver o contrato (remover a FK) para depois excluir o imóvel (PK).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 o prédio for demolido, o que acontece com os contratos de aluguel ligados a ele? R: São automaticamente cancelados (Cascata).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Podemos registrar um aluguel para um apartamento se este não existe? R: Não, o banco impede quando nota a inexistência.</a:t>
            </a:r>
          </a:p>
          <a:p>
            <a:pPr algn="l" marL="488632" indent="-244316" lvl="1">
              <a:lnSpc>
                <a:spcPts val="3240"/>
              </a:lnSpc>
            </a:pPr>
          </a:p>
        </p:txBody>
      </p:sp>
      <p:sp>
        <p:nvSpPr>
          <p:cNvPr name="AutoShape 16" id="16"/>
          <p:cNvSpPr/>
          <p:nvPr/>
        </p:nvSpPr>
        <p:spPr>
          <a:xfrm rot="10757940">
            <a:off x="10743762" y="3651780"/>
            <a:ext cx="1850927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7" id="17"/>
          <p:cNvSpPr txBox="true"/>
          <p:nvPr/>
        </p:nvSpPr>
        <p:spPr>
          <a:xfrm rot="0">
            <a:off x="11207172" y="3057935"/>
            <a:ext cx="911762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Aluga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73558" y="6078388"/>
            <a:ext cx="1811655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Depende de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707791" y="914400"/>
            <a:ext cx="4872418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Relacionamentos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49062" y="2581260"/>
            <a:ext cx="15389876" cy="5124480"/>
            <a:chOff x="0" y="0"/>
            <a:chExt cx="20519835" cy="6832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19833" cy="6832642"/>
            </a:xfrm>
            <a:custGeom>
              <a:avLst/>
              <a:gdLst/>
              <a:ahLst/>
              <a:cxnLst/>
              <a:rect r="r" b="b" t="t" l="l"/>
              <a:pathLst>
                <a:path h="6832642" w="20519833">
                  <a:moveTo>
                    <a:pt x="0" y="0"/>
                  </a:moveTo>
                  <a:lnTo>
                    <a:pt x="20519833" y="0"/>
                  </a:lnTo>
                  <a:lnTo>
                    <a:pt x="20519833" y="6832642"/>
                  </a:lnTo>
                  <a:lnTo>
                    <a:pt x="0" y="68326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97" r="-15003" b="-1729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0519835" cy="6889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Conexões lógicas entre entidades</a:t>
              </a: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que representam como os dados em diferentes tabelas estão associados uns aos outros.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modelo relacional, </a:t>
              </a:r>
              <a:r>
                <a:rPr lang="en-US" b="true" sz="27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relacionamentos</a:t>
              </a: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ajudam a manter a </a:t>
              </a:r>
              <a:r>
                <a:rPr lang="en-US" b="true" sz="27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integridade referencial</a:t>
              </a: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, evitando dados duplicados e inconsistentes.</a:t>
              </a:r>
            </a:p>
            <a:p>
              <a:pPr algn="l">
                <a:lnSpc>
                  <a:spcPts val="3240"/>
                </a:lnSpc>
              </a:pP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Classificação:</a:t>
              </a:r>
            </a:p>
            <a:p>
              <a:pPr algn="l">
                <a:lnSpc>
                  <a:spcPts val="3240"/>
                </a:lnSpc>
              </a:pPr>
            </a:p>
            <a:p>
              <a:pPr algn="l" marL="1165860" indent="-388620" lvl="2">
                <a:lnSpc>
                  <a:spcPts val="3240"/>
                </a:lnSpc>
                <a:buFont typeface="Arial"/>
                <a:buChar char="⚬"/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1:1</a:t>
              </a:r>
            </a:p>
            <a:p>
              <a:pPr algn="l" marL="1165860" indent="-388620" lvl="2">
                <a:lnSpc>
                  <a:spcPts val="3240"/>
                </a:lnSpc>
                <a:buFont typeface="Arial"/>
                <a:buChar char="⚬"/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1:N</a:t>
              </a:r>
            </a:p>
            <a:p>
              <a:pPr algn="l" marL="1165860" indent="-388620" lvl="2">
                <a:lnSpc>
                  <a:spcPts val="3240"/>
                </a:lnSpc>
                <a:buFont typeface="Arial"/>
                <a:buChar char="⚬"/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N:M</a:t>
              </a:r>
            </a:p>
            <a:p>
              <a:pPr algn="l" marL="488632" indent="-244316" lvl="1">
                <a:lnSpc>
                  <a:spcPts val="3240"/>
                </a:lnSpc>
              </a:pPr>
            </a:p>
            <a:p>
              <a:pPr algn="l" marL="488632" indent="-244316" lvl="1">
                <a:lnSpc>
                  <a:spcPts val="3240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713811" y="286979"/>
            <a:ext cx="4951762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Relacionamentos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43769" y="2889056"/>
            <a:ext cx="13865723" cy="1350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Esse tipo de relacionamento é menos comum, mas útil quando há a necessidade de </a:t>
            </a:r>
            <a:r>
              <a:rPr lang="en-US" sz="27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separar dados sensíveis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ou dividir lógicas distintas. Por exemplo, em um sistema de RH, cada funcionário pode ter um único registro de pagamento.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43769" y="5138309"/>
            <a:ext cx="13865723" cy="1350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É o tipo mais frequente de relacionamento em bancos de dados. Imagine um cliente que faz vários pedidos: temos uma relação </a:t>
            </a:r>
            <a:r>
              <a:rPr lang="en-US" sz="27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 cliente → N pedidos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Isso permite organizar o sistema de forma escalável, mantendo os dados centralizados e fáceis de acessar.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43769" y="7361539"/>
            <a:ext cx="13865723" cy="1350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Esse relacionamento ocorre quando várias instâncias de uma entidade se relacionam com várias instâncias de outra. Como não é possível representar isso diretamente em bancos relacionais, utilizamos </a:t>
            </a:r>
            <a:r>
              <a:rPr lang="en-US" sz="27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tabelas associativas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para intermediar a conexão.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43769" y="2187035"/>
            <a:ext cx="4370041" cy="667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Relacionamento 1:1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43769" y="4513802"/>
            <a:ext cx="4541482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Relacionamento 1:N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43769" y="6721192"/>
            <a:ext cx="4659894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Relacionamento N:M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729776" y="333375"/>
            <a:ext cx="2828449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Exercícios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11134" y="2580694"/>
            <a:ext cx="13865723" cy="7038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 um cliente mudar de endereço, e os dados de endereço estiverem repetidos em cada linha da tabela de "Pedidos", o que acontece se esquecermos de atualizar uma dessas linhas?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Por que não é recomendável usar o nome completo de uma pessoa como Chave Primária (PK), mesmo que, no momento do cadastro, não existam nomes iguais?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 um cadastro de hospital, qual a diferença prática entre um campo Data_de_Óbito com valor "0" e um com valor "NULL"?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 tentarmos cadastrar uma nota para um aluno que ainda não foi matriculado no sistema, qual conceito de banco de dados deve impedir essa ação?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 um sistema de biblioteca, onde um autor escreve vários livros, em qual das duas tabelas deve ficar a "ponte" (Chave Estrangeira)? Na tabela do Autor ou na tabela do Livro?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Por que o banco de dados nos impede de excluir um "Curso" enquanto ainda existirem "Alunos" matriculados nele?</a:t>
            </a:r>
          </a:p>
          <a:p>
            <a:pPr algn="l" marL="542925" indent="-271462" lvl="1">
              <a:lnSpc>
                <a:spcPts val="3600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729776" y="333375"/>
            <a:ext cx="2828449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Exercícios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11134" y="2351322"/>
            <a:ext cx="13865723" cy="5653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 você precisa guardar apenas "Sim" ou "Não", por que usar um campo de texto livre (VARCHAR) seria uma má escolha de modelagem? 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 meio de uma transferência bancária, a energia do servidor cai. Por que o saldo não pode ter saído de uma conta sem ter entrado na outra?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Por que as Chaves Estrangeiras são vitais para evitar que o banco de dados se torne um amontoado de "dados órfãos" (informações que existem, mas não se ligam a nada)?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Pense no contexto de uma empresa, um empregado tem um dependente (filho), qual a relação da empresa com este dependente? O que aconteceria com o dependente se o empregado fosse demitido? Dentro da relação entre empregado e dependente, em qual das entidades ficaria a chave estrangeira? Por que?</a:t>
            </a:r>
          </a:p>
          <a:p>
            <a:pPr algn="l" marL="542925" indent="-271462" lvl="1">
              <a:lnSpc>
                <a:spcPts val="3600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977890" y="3475225"/>
            <a:ext cx="6332220" cy="3007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>
                <a:solidFill>
                  <a:srgbClr val="2E75B6"/>
                </a:solidFill>
                <a:latin typeface="Calibri (MS)"/>
                <a:ea typeface="Calibri (MS)"/>
                <a:cs typeface="Calibri (MS)"/>
                <a:sym typeface="Calibri (MS)"/>
              </a:rPr>
              <a:t>AULA CONCLUÍDA!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DAHRRHq5vJs</dc:identifier>
  <dcterms:modified xsi:type="dcterms:W3CDTF">2011-08-01T06:04:30Z</dcterms:modified>
  <cp:revision>1</cp:revision>
  <dc:title>IntroduçãoBD.pptx</dc:title>
</cp:coreProperties>
</file>