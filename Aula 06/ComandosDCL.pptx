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alibri (MS)" charset="1" panose="020F0502020204030204"/>
      <p:regular r:id="rId29"/>
    </p:embeddedFont>
    <p:embeddedFont>
      <p:font typeface="Calibri (MS) Bold" charset="1" panose="020F070203040403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3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9698" y="131445"/>
            <a:ext cx="584489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Banco de Dados – C07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698" y="936222"/>
            <a:ext cx="360221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Felipe Silva Loschi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9698" y="8164087"/>
            <a:ext cx="553067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Comandos DCL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698" y="9191625"/>
            <a:ext cx="598827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Material de: </a:t>
            </a:r>
            <a:r>
              <a:rPr lang="en-US" sz="36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Felipe Tagawa Reis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4625" y="1535906"/>
            <a:ext cx="12858750" cy="7215188"/>
            <a:chOff x="0" y="0"/>
            <a:chExt cx="17145000" cy="9620250"/>
          </a:xfrm>
        </p:grpSpPr>
        <p:sp>
          <p:nvSpPr>
            <p:cNvPr name="Freeform 5" id="5" descr="Types of SQL Commands. - Learnomate Technologies"/>
            <p:cNvSpPr/>
            <p:nvPr/>
          </p:nvSpPr>
          <p:spPr>
            <a:xfrm flipH="false" flipV="false" rot="0">
              <a:off x="0" y="0"/>
              <a:ext cx="17145000" cy="9620250"/>
            </a:xfrm>
            <a:custGeom>
              <a:avLst/>
              <a:gdLst/>
              <a:ahLst/>
              <a:cxnLst/>
              <a:rect r="r" b="b" t="t" l="l"/>
              <a:pathLst>
                <a:path h="9620250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9620250"/>
                  </a:lnTo>
                  <a:lnTo>
                    <a:pt x="0" y="962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73614" y="214627"/>
            <a:ext cx="4340762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Linguagem SQL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89044" y="201435"/>
            <a:ext cx="370991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Aula de Hoje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14625" y="1535906"/>
            <a:ext cx="12858750" cy="7215188"/>
            <a:chOff x="0" y="0"/>
            <a:chExt cx="17145000" cy="9620250"/>
          </a:xfrm>
        </p:grpSpPr>
        <p:sp>
          <p:nvSpPr>
            <p:cNvPr name="Freeform 6" id="6" descr="Types of SQL Commands. - Learnomate Technologies"/>
            <p:cNvSpPr/>
            <p:nvPr/>
          </p:nvSpPr>
          <p:spPr>
            <a:xfrm flipH="false" flipV="false" rot="0">
              <a:off x="0" y="0"/>
              <a:ext cx="17145000" cy="9620250"/>
            </a:xfrm>
            <a:custGeom>
              <a:avLst/>
              <a:gdLst/>
              <a:ahLst/>
              <a:cxnLst/>
              <a:rect r="r" b="b" t="t" l="l"/>
              <a:pathLst>
                <a:path h="9620250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9620250"/>
                  </a:lnTo>
                  <a:lnTo>
                    <a:pt x="0" y="962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58624" y="5133975"/>
            <a:ext cx="652101" cy="414699"/>
            <a:chOff x="0" y="0"/>
            <a:chExt cx="869467" cy="5529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442" cy="552958"/>
            </a:xfrm>
            <a:custGeom>
              <a:avLst/>
              <a:gdLst/>
              <a:ahLst/>
              <a:cxnLst/>
              <a:rect r="r" b="b" t="t" l="l"/>
              <a:pathLst>
                <a:path h="552958" w="869442">
                  <a:moveTo>
                    <a:pt x="869442" y="138176"/>
                  </a:moveTo>
                  <a:lnTo>
                    <a:pt x="276479" y="138176"/>
                  </a:lnTo>
                  <a:lnTo>
                    <a:pt x="276479" y="0"/>
                  </a:lnTo>
                  <a:lnTo>
                    <a:pt x="0" y="276479"/>
                  </a:lnTo>
                  <a:lnTo>
                    <a:pt x="276479" y="552958"/>
                  </a:lnTo>
                  <a:lnTo>
                    <a:pt x="276479" y="414655"/>
                  </a:lnTo>
                  <a:lnTo>
                    <a:pt x="869442" y="414655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958624" y="5704103"/>
            <a:ext cx="652101" cy="414699"/>
            <a:chOff x="0" y="0"/>
            <a:chExt cx="869467" cy="552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9442" cy="552958"/>
            </a:xfrm>
            <a:custGeom>
              <a:avLst/>
              <a:gdLst/>
              <a:ahLst/>
              <a:cxnLst/>
              <a:rect r="r" b="b" t="t" l="l"/>
              <a:pathLst>
                <a:path h="552958" w="869442">
                  <a:moveTo>
                    <a:pt x="869442" y="138176"/>
                  </a:moveTo>
                  <a:lnTo>
                    <a:pt x="276479" y="138176"/>
                  </a:lnTo>
                  <a:lnTo>
                    <a:pt x="276479" y="0"/>
                  </a:lnTo>
                  <a:lnTo>
                    <a:pt x="0" y="276479"/>
                  </a:lnTo>
                  <a:lnTo>
                    <a:pt x="276479" y="552958"/>
                  </a:lnTo>
                  <a:lnTo>
                    <a:pt x="276479" y="414655"/>
                  </a:lnTo>
                  <a:lnTo>
                    <a:pt x="869442" y="414655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55451" y="201435"/>
            <a:ext cx="497710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Comandos DCL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5648" y="1589970"/>
            <a:ext cx="16249945" cy="142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DCL (Data Control Language)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é o conjunto de comandos responsáveis por garantir o controle de acesso ao banco de dados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5648" y="3861209"/>
            <a:ext cx="3552146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Comandos:</a:t>
            </a:r>
          </a:p>
          <a:p>
            <a:pPr algn="l">
              <a:lnSpc>
                <a:spcPts val="6480"/>
              </a:lnSpc>
            </a:pP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GRANT</a:t>
            </a:r>
          </a:p>
          <a:p>
            <a:pPr algn="l" marL="977265" indent="-488632" lvl="1">
              <a:lnSpc>
                <a:spcPts val="6480"/>
              </a:lnSpc>
              <a:buFont typeface="Arial"/>
              <a:buChar char="•"/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REVOKE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55451" y="201435"/>
            <a:ext cx="497710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GRANT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5648" y="1609020"/>
            <a:ext cx="16249945" cy="426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Concede certos </a:t>
            </a:r>
            <a:r>
              <a:rPr lang="en-US" sz="30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privilégios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um usuário especificado, é necessária a existência desse usuário previamente para o comando funcionar corretamente. É</a:t>
            </a:r>
            <a:r>
              <a:rPr lang="en-US" sz="3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necessário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que informemos qual o endereço IP poderá acessar (‘@’%’, ‘@’localhost’ ou ‘@’EndereçoIP’ após o nome).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Privilégios: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ALL PRIVILEGES – todos os privilégios, menos o GRANT;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CREATE, ALTER e DROP – DDL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SELECT, INSERT, UPDATE E DELETE – DQL e DML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599097" y="6240447"/>
            <a:ext cx="11503047" cy="3729561"/>
            <a:chOff x="0" y="0"/>
            <a:chExt cx="15337396" cy="4972748"/>
          </a:xfrm>
        </p:grpSpPr>
        <p:sp>
          <p:nvSpPr>
            <p:cNvPr name="Freeform 7" id="7" descr="Texto  O conteúdo gerado por IA pode estar incorreto."/>
            <p:cNvSpPr/>
            <p:nvPr/>
          </p:nvSpPr>
          <p:spPr>
            <a:xfrm flipH="false" flipV="false" rot="0">
              <a:off x="0" y="0"/>
              <a:ext cx="15337410" cy="4972685"/>
            </a:xfrm>
            <a:custGeom>
              <a:avLst/>
              <a:gdLst/>
              <a:ahLst/>
              <a:cxnLst/>
              <a:rect r="r" b="b" t="t" l="l"/>
              <a:pathLst>
                <a:path h="4972685" w="15337410">
                  <a:moveTo>
                    <a:pt x="0" y="0"/>
                  </a:moveTo>
                  <a:lnTo>
                    <a:pt x="15337410" y="0"/>
                  </a:lnTo>
                  <a:lnTo>
                    <a:pt x="15337410" y="4972685"/>
                  </a:lnTo>
                  <a:lnTo>
                    <a:pt x="0" y="497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12200" y="248412"/>
            <a:ext cx="6863610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Hierarquia de Privilégios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5648" y="1589970"/>
            <a:ext cx="16249945" cy="816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Os privilégios podem ser aplicados em diferentes níveis.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Nível Global: GRANT ALL ON *.* (Todo o servidor);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Nível Database: GRANT ALL ON bd_exemplo.*;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Nível de Tabela: GRANT SELECT ON bd_exemplo.Musica.</a:t>
            </a:r>
          </a:p>
          <a:p>
            <a:pPr algn="l">
              <a:lnSpc>
                <a:spcPts val="5040"/>
              </a:lnSpc>
            </a:pPr>
          </a:p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FLUSH PRIVILEGES</a:t>
            </a:r>
          </a:p>
          <a:p>
            <a:pPr algn="ctr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Atualiza a tabela de acessos imediatamente na memória, garantindo que as alterações entrem em vigor na hora.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07977" y="6690941"/>
            <a:ext cx="1318536" cy="1419958"/>
            <a:chOff x="0" y="0"/>
            <a:chExt cx="1758048" cy="1893278"/>
          </a:xfrm>
        </p:grpSpPr>
        <p:sp>
          <p:nvSpPr>
            <p:cNvPr name="Freeform 7" id="7" descr="F5 button: 282 imagens, fotos e ilustrações stock livres de direitos |  Shutterstock"/>
            <p:cNvSpPr/>
            <p:nvPr/>
          </p:nvSpPr>
          <p:spPr>
            <a:xfrm flipH="false" flipV="false" rot="0">
              <a:off x="0" y="0"/>
              <a:ext cx="1758061" cy="1893316"/>
            </a:xfrm>
            <a:custGeom>
              <a:avLst/>
              <a:gdLst/>
              <a:ahLst/>
              <a:cxnLst/>
              <a:rect r="r" b="b" t="t" l="l"/>
              <a:pathLst>
                <a:path h="1893316" w="1758061">
                  <a:moveTo>
                    <a:pt x="0" y="0"/>
                  </a:moveTo>
                  <a:lnTo>
                    <a:pt x="1758061" y="0"/>
                  </a:lnTo>
                  <a:lnTo>
                    <a:pt x="1758061" y="1893316"/>
                  </a:lnTo>
                  <a:lnTo>
                    <a:pt x="0" y="1893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23292" y="201435"/>
            <a:ext cx="5241427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REVOKE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5648" y="1609020"/>
            <a:ext cx="16249945" cy="149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Revoga/remove certos </a:t>
            </a:r>
            <a:r>
              <a:rPr lang="en-US" sz="30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privilégios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um usuário especificado, é claro que é necessária a existência desse usuário previamente para o comando funcionar corretamente.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32697" y="4355916"/>
            <a:ext cx="15822597" cy="2883122"/>
            <a:chOff x="0" y="0"/>
            <a:chExt cx="21096796" cy="38441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96860" cy="3844163"/>
            </a:xfrm>
            <a:custGeom>
              <a:avLst/>
              <a:gdLst/>
              <a:ahLst/>
              <a:cxnLst/>
              <a:rect r="r" b="b" t="t" l="l"/>
              <a:pathLst>
                <a:path h="3844163" w="21096860">
                  <a:moveTo>
                    <a:pt x="0" y="0"/>
                  </a:moveTo>
                  <a:lnTo>
                    <a:pt x="21096860" y="0"/>
                  </a:lnTo>
                  <a:lnTo>
                    <a:pt x="21096860" y="3844163"/>
                  </a:lnTo>
                  <a:lnTo>
                    <a:pt x="0" y="3844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4635" y="1428236"/>
            <a:ext cx="16818731" cy="7430538"/>
            <a:chOff x="0" y="0"/>
            <a:chExt cx="22424974" cy="99073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25025" cy="9907397"/>
            </a:xfrm>
            <a:custGeom>
              <a:avLst/>
              <a:gdLst/>
              <a:ahLst/>
              <a:cxnLst/>
              <a:rect r="r" b="b" t="t" l="l"/>
              <a:pathLst>
                <a:path h="9907397" w="22425025">
                  <a:moveTo>
                    <a:pt x="0" y="0"/>
                  </a:moveTo>
                  <a:lnTo>
                    <a:pt x="22425025" y="0"/>
                  </a:lnTo>
                  <a:lnTo>
                    <a:pt x="22425025" y="9907397"/>
                  </a:lnTo>
                  <a:lnTo>
                    <a:pt x="0" y="9907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01265" y="261661"/>
            <a:ext cx="350081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Role (Papel)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5648" y="1609020"/>
            <a:ext cx="16249945" cy="103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Conjuntos nomeados de privilégios que funcionam como "templates" de acesso, facilitando a gestão de permissões em larga escala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8982" y="3230737"/>
            <a:ext cx="15643269" cy="594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ROLE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[comandos] ON [database].[tabela] TO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USER ‘nomeUsuario’@’ip’ IDENTIFIED BY ‘senha’;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‘nomeRole’ TO ‘nomeUsuario’@’ip’;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SET DEFAULT ROLE ‘nomeRole’ TO ‘nomeUsuario’@’ip’;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01265" y="261661"/>
            <a:ext cx="350081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Role (Papel)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33642" y="1806654"/>
            <a:ext cx="2036083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8982" y="3230737"/>
            <a:ext cx="15643269" cy="594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ROLE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[comandos] ON [database].[tabela] TO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USER ‘nomeUsuario’@’ip’ IDENTIFIED BY ‘senha’;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‘nomeRole’ TO ‘nomeUsuario’@’ip’;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SET DEFAULT ROLE ‘nomeRole’ TO ‘nomeUsuario’@’ip’;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01265" y="261661"/>
            <a:ext cx="350081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Role (Papel)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14199" y="1806654"/>
            <a:ext cx="5659612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Garantia de Privilégios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8982" y="3230737"/>
            <a:ext cx="15643269" cy="594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ROLE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[comandos] ON [database].[tabela] TO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USER ‘nomeUsuario’@’ip’ IDENTIFIED BY ‘senha’;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‘nomeRole’ TO ‘nomeUsuario’@’ip’;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SET DEFAULT ROLE ‘nomeRole’ TO ‘nomeUsuario’@’ip’;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01265" y="261661"/>
            <a:ext cx="350081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Role (Papel)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25998" y="1806654"/>
            <a:ext cx="10236003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Criação do Usuário (Pode ser feita antes)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8982" y="3230737"/>
            <a:ext cx="15643269" cy="594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ROLE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[comandos] ON [database].[tabela] TO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USER ‘nomeUsuario’@’ip’ IDENTIFIED BY ‘senha’;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‘nomeRole’ TO ‘nomeUsuario’@’ip’;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SET DEFAULT ROLE ‘nomeRole’ TO ‘nomeUsuario’@’ip’;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01265" y="261661"/>
            <a:ext cx="350081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Role (Papel)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25056" y="1806654"/>
            <a:ext cx="7453236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Associação do Usuário à Role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8982" y="3230737"/>
            <a:ext cx="15643269" cy="594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ROLE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[comandos] ON [database].[tabela] TO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USER ‘nomeUsuario’@’ip’ IDENTIFIED BY ‘senha’;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‘nomeRole’ TO ‘nomeUsuario’@’ip’;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SET DEFAULT ROLE ‘nomeRole’ TO ‘nomeUsuario’@’ip’;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01265" y="261661"/>
            <a:ext cx="350081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Role (Papel)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9032" y="1806654"/>
            <a:ext cx="16249945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Definição da Role Padrão para evitar erros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8982" y="3230737"/>
            <a:ext cx="15643269" cy="594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ROLE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[comandos] ON [database].[tabela] TO ‘nomeRole’;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USER ‘nomeUsuario’@’ip’ IDENTIFIED BY ‘senha’;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808080"/>
                </a:solidFill>
                <a:latin typeface="Calibri (MS)"/>
                <a:ea typeface="Calibri (MS)"/>
                <a:cs typeface="Calibri (MS)"/>
                <a:sym typeface="Calibri (MS)"/>
              </a:rPr>
              <a:t>GRANT ‘nomeRole’ TO ‘nomeUsuario’@’ip’;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SET DEFAULT ROLE ‘nomeRole’ TO ‘nomeUsuario’@’ip’;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954099" y="269872"/>
            <a:ext cx="2379802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Relação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33776" y="2184892"/>
            <a:ext cx="5420458" cy="5420458"/>
            <a:chOff x="0" y="0"/>
            <a:chExt cx="7227278" cy="7227278"/>
          </a:xfrm>
        </p:grpSpPr>
        <p:sp>
          <p:nvSpPr>
            <p:cNvPr name="Freeform 6" id="6" descr="Design PNG E SVG De Ícone De Curso Da Ponte 09 Para Camisetas"/>
            <p:cNvSpPr/>
            <p:nvPr/>
          </p:nvSpPr>
          <p:spPr>
            <a:xfrm flipH="false" flipV="false" rot="0">
              <a:off x="0" y="0"/>
              <a:ext cx="7227316" cy="7227316"/>
            </a:xfrm>
            <a:custGeom>
              <a:avLst/>
              <a:gdLst/>
              <a:ahLst/>
              <a:cxnLst/>
              <a:rect r="r" b="b" t="t" l="l"/>
              <a:pathLst>
                <a:path h="7227316" w="7227316">
                  <a:moveTo>
                    <a:pt x="0" y="0"/>
                  </a:moveTo>
                  <a:lnTo>
                    <a:pt x="7227316" y="0"/>
                  </a:lnTo>
                  <a:lnTo>
                    <a:pt x="7227316" y="7227316"/>
                  </a:lnTo>
                  <a:lnTo>
                    <a:pt x="0" y="7227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458281" y="3806523"/>
            <a:ext cx="5133346" cy="2673963"/>
            <a:chOff x="0" y="0"/>
            <a:chExt cx="6844462" cy="3565284"/>
          </a:xfrm>
        </p:grpSpPr>
        <p:sp>
          <p:nvSpPr>
            <p:cNvPr name="Freeform 8" id="8" descr="O perfil completo de um DBA - Administrador de Banco de Dados!"/>
            <p:cNvSpPr/>
            <p:nvPr/>
          </p:nvSpPr>
          <p:spPr>
            <a:xfrm flipH="false" flipV="false" rot="0">
              <a:off x="0" y="0"/>
              <a:ext cx="6844411" cy="3565271"/>
            </a:xfrm>
            <a:custGeom>
              <a:avLst/>
              <a:gdLst/>
              <a:ahLst/>
              <a:cxnLst/>
              <a:rect r="r" b="b" t="t" l="l"/>
              <a:pathLst>
                <a:path h="356527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3565271"/>
                  </a:lnTo>
                  <a:lnTo>
                    <a:pt x="0" y="3565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81208" y="3253978"/>
            <a:ext cx="3779044" cy="3779044"/>
            <a:chOff x="0" y="0"/>
            <a:chExt cx="5038725" cy="5038725"/>
          </a:xfrm>
        </p:grpSpPr>
        <p:sp>
          <p:nvSpPr>
            <p:cNvPr name="Freeform 10" id="10" descr="ícone Da Equipe De Segurança Ilustração do Vetor - Ilustração de equipe,  protetor: 274945186"/>
            <p:cNvSpPr/>
            <p:nvPr/>
          </p:nvSpPr>
          <p:spPr>
            <a:xfrm flipH="false" flipV="false" rot="0">
              <a:off x="0" y="0"/>
              <a:ext cx="5038725" cy="5038725"/>
            </a:xfrm>
            <a:custGeom>
              <a:avLst/>
              <a:gdLst/>
              <a:ahLst/>
              <a:cxnLst/>
              <a:rect r="r" b="b" t="t" l="l"/>
              <a:pathLst>
                <a:path h="5038725" w="5038725">
                  <a:moveTo>
                    <a:pt x="0" y="0"/>
                  </a:moveTo>
                  <a:lnTo>
                    <a:pt x="5038725" y="0"/>
                  </a:lnTo>
                  <a:lnTo>
                    <a:pt x="5038725" y="5038725"/>
                  </a:lnTo>
                  <a:lnTo>
                    <a:pt x="0" y="5038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6807" y="6469047"/>
            <a:ext cx="4485837" cy="9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Equipe de Segurança da Informação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54794" y="6676796"/>
            <a:ext cx="740312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DBA</a:t>
            </a:r>
          </a:p>
        </p:txBody>
      </p:sp>
      <p:sp>
        <p:nvSpPr>
          <p:cNvPr name="AutoShape 13" id="13"/>
          <p:cNvSpPr/>
          <p:nvPr/>
        </p:nvSpPr>
        <p:spPr>
          <a:xfrm rot="5373540">
            <a:off x="2440924" y="8059226"/>
            <a:ext cx="1237593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238841" y="8956719"/>
            <a:ext cx="3615395" cy="9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Define quem pode acessar</a:t>
            </a:r>
          </a:p>
        </p:txBody>
      </p:sp>
      <p:sp>
        <p:nvSpPr>
          <p:cNvPr name="AutoShape 15" id="15"/>
          <p:cNvSpPr/>
          <p:nvPr/>
        </p:nvSpPr>
        <p:spPr>
          <a:xfrm rot="5353800">
            <a:off x="14307179" y="7955356"/>
            <a:ext cx="1445438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13921197" y="8735825"/>
            <a:ext cx="2227307" cy="9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Usa os comandos DCL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01350" y="306562"/>
            <a:ext cx="9485290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Máscara de Dados e Auditoria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69230" y="7758503"/>
            <a:ext cx="2055219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Masking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4345" y="7758503"/>
            <a:ext cx="3602669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Auditoria DCL – Audit.log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780774" y="2808594"/>
            <a:ext cx="4669812" cy="4669812"/>
            <a:chOff x="0" y="0"/>
            <a:chExt cx="6226416" cy="6226416"/>
          </a:xfrm>
        </p:grpSpPr>
        <p:sp>
          <p:nvSpPr>
            <p:cNvPr name="Freeform 8" id="8" descr="Ilustração de personagem de desenho vetorial gráfico de auditoria | Vetor  Premium"/>
            <p:cNvSpPr/>
            <p:nvPr/>
          </p:nvSpPr>
          <p:spPr>
            <a:xfrm flipH="false" flipV="false" rot="0">
              <a:off x="0" y="0"/>
              <a:ext cx="6226429" cy="6226429"/>
            </a:xfrm>
            <a:custGeom>
              <a:avLst/>
              <a:gdLst/>
              <a:ahLst/>
              <a:cxnLst/>
              <a:rect r="r" b="b" t="t" l="l"/>
              <a:pathLst>
                <a:path h="6226429" w="6226429">
                  <a:moveTo>
                    <a:pt x="0" y="0"/>
                  </a:moveTo>
                  <a:lnTo>
                    <a:pt x="6226429" y="0"/>
                  </a:lnTo>
                  <a:lnTo>
                    <a:pt x="6226429" y="6226429"/>
                  </a:lnTo>
                  <a:lnTo>
                    <a:pt x="0" y="6226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 descr="What is Data Masking"/>
          <p:cNvSpPr/>
          <p:nvPr/>
        </p:nvSpPr>
        <p:spPr>
          <a:xfrm flipH="false" flipV="false" rot="0">
            <a:off x="697862" y="4474084"/>
            <a:ext cx="10069960" cy="3347468"/>
          </a:xfrm>
          <a:custGeom>
            <a:avLst/>
            <a:gdLst/>
            <a:ahLst/>
            <a:cxnLst/>
            <a:rect r="r" b="b" t="t" l="l"/>
            <a:pathLst>
              <a:path h="3347468" w="10069960">
                <a:moveTo>
                  <a:pt x="0" y="0"/>
                </a:moveTo>
                <a:lnTo>
                  <a:pt x="10069960" y="0"/>
                </a:lnTo>
                <a:lnTo>
                  <a:pt x="10069960" y="3347468"/>
                </a:lnTo>
                <a:lnTo>
                  <a:pt x="0" y="334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6" t="0" r="-366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79896" y="264081"/>
            <a:ext cx="4343476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RDBMS + LGPD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6515" y="1845945"/>
            <a:ext cx="10447020" cy="654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Criptografia</a:t>
            </a:r>
          </a:p>
          <a:p>
            <a:pPr algn="l">
              <a:lnSpc>
                <a:spcPts val="3240"/>
              </a:lnSpc>
            </a:pP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das Informações por manipulação de dados e backups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Tipos de Criptografia</a:t>
            </a:r>
          </a:p>
          <a:p>
            <a:pPr algn="l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 Rest: Proteção de dados físicos (como arquivos MySQL) por meio da conversão deles em um código ilegível;</a:t>
            </a: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 Transit: Proteção de dados enquanto são transferidos entre redes, dispositivos ou servidores , utilizando protocolos como SSL/TLS para impedir interceptação.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274058" y="6062339"/>
            <a:ext cx="5332533" cy="2979410"/>
            <a:chOff x="0" y="0"/>
            <a:chExt cx="7110044" cy="3972547"/>
          </a:xfrm>
        </p:grpSpPr>
        <p:sp>
          <p:nvSpPr>
            <p:cNvPr name="Freeform 7" id="7" descr="Compreendendo a Criptografia de Dados: Dados em Repouso, Em Trânsito, Em Uso"/>
            <p:cNvSpPr/>
            <p:nvPr/>
          </p:nvSpPr>
          <p:spPr>
            <a:xfrm flipH="false" flipV="false" rot="0">
              <a:off x="0" y="0"/>
              <a:ext cx="7110095" cy="3972560"/>
            </a:xfrm>
            <a:custGeom>
              <a:avLst/>
              <a:gdLst/>
              <a:ahLst/>
              <a:cxnLst/>
              <a:rect r="r" b="b" t="t" l="l"/>
              <a:pathLst>
                <a:path h="3972560" w="7110095">
                  <a:moveTo>
                    <a:pt x="0" y="0"/>
                  </a:moveTo>
                  <a:lnTo>
                    <a:pt x="7110095" y="0"/>
                  </a:lnTo>
                  <a:lnTo>
                    <a:pt x="7110095" y="3972560"/>
                  </a:lnTo>
                  <a:lnTo>
                    <a:pt x="0" y="3972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684975" y="2480281"/>
            <a:ext cx="5919968" cy="2639082"/>
            <a:chOff x="0" y="0"/>
            <a:chExt cx="7893291" cy="3518776"/>
          </a:xfrm>
        </p:grpSpPr>
        <p:sp>
          <p:nvSpPr>
            <p:cNvPr name="Freeform 9" id="9" descr="O que é Criptografia de Dados? Definição, Tipos e Práticas Recomendadas -  Kinsta®"/>
            <p:cNvSpPr/>
            <p:nvPr/>
          </p:nvSpPr>
          <p:spPr>
            <a:xfrm flipH="false" flipV="false" rot="0">
              <a:off x="0" y="0"/>
              <a:ext cx="7893304" cy="3518789"/>
            </a:xfrm>
            <a:custGeom>
              <a:avLst/>
              <a:gdLst/>
              <a:ahLst/>
              <a:cxnLst/>
              <a:rect r="r" b="b" t="t" l="l"/>
              <a:pathLst>
                <a:path h="3518789" w="7893304">
                  <a:moveTo>
                    <a:pt x="0" y="0"/>
                  </a:moveTo>
                  <a:lnTo>
                    <a:pt x="7893304" y="0"/>
                  </a:lnTo>
                  <a:lnTo>
                    <a:pt x="7893304" y="3518789"/>
                  </a:lnTo>
                  <a:lnTo>
                    <a:pt x="0" y="3518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1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349784" y="207169"/>
            <a:ext cx="5588432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x ROLE x DBA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6515" y="1845945"/>
            <a:ext cx="8808539" cy="844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(Usuário)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Representa a conta de acesso (Identidade);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Função: Identificar a pessoa/sistema.</a:t>
            </a: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868680" indent="-434340" lvl="1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Role (Função)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Representa o “contêiner” de permissões dos usuários;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Função: Organizar permissões por cargo;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Usuários em comum fazem parte de um papel em comum.</a:t>
            </a: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868680" indent="-434340" lvl="1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DBA (Database Admin)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É mais do que simplesmente um usuário, representa o profissional por trás do gerenciamento do Banco de dados como um todo;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Função: Administrar a infraestrutura e segurança.</a:t>
            </a:r>
          </a:p>
          <a:p>
            <a:pPr algn="l" marL="488632" indent="-244316" lvl="1">
              <a:lnSpc>
                <a:spcPts val="324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637958" y="7415955"/>
            <a:ext cx="4565952" cy="2629614"/>
            <a:chOff x="0" y="0"/>
            <a:chExt cx="6087936" cy="3506152"/>
          </a:xfrm>
        </p:grpSpPr>
        <p:sp>
          <p:nvSpPr>
            <p:cNvPr name="Freeform 7" id="7" descr="Você sabe qual a importância de um DBA em seu projeto? - Arbit"/>
            <p:cNvSpPr/>
            <p:nvPr/>
          </p:nvSpPr>
          <p:spPr>
            <a:xfrm flipH="false" flipV="false" rot="0">
              <a:off x="0" y="0"/>
              <a:ext cx="6087999" cy="3506216"/>
            </a:xfrm>
            <a:custGeom>
              <a:avLst/>
              <a:gdLst/>
              <a:ahLst/>
              <a:cxnLst/>
              <a:rect r="r" b="b" t="t" l="l"/>
              <a:pathLst>
                <a:path h="3506216" w="6087999">
                  <a:moveTo>
                    <a:pt x="0" y="0"/>
                  </a:moveTo>
                  <a:lnTo>
                    <a:pt x="6087999" y="0"/>
                  </a:lnTo>
                  <a:lnTo>
                    <a:pt x="6087999" y="3506216"/>
                  </a:lnTo>
                  <a:lnTo>
                    <a:pt x="0" y="3506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67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608689" y="4248931"/>
            <a:ext cx="4224699" cy="2817847"/>
            <a:chOff x="0" y="0"/>
            <a:chExt cx="5632933" cy="3757130"/>
          </a:xfrm>
        </p:grpSpPr>
        <p:sp>
          <p:nvSpPr>
            <p:cNvPr name="Freeform 9" id="9" descr="SQL Developer Job Description: Role, Skills, Salary &amp; More - CoderPad"/>
            <p:cNvSpPr/>
            <p:nvPr/>
          </p:nvSpPr>
          <p:spPr>
            <a:xfrm flipH="false" flipV="false" rot="0">
              <a:off x="0" y="0"/>
              <a:ext cx="5632958" cy="3757168"/>
            </a:xfrm>
            <a:custGeom>
              <a:avLst/>
              <a:gdLst/>
              <a:ahLst/>
              <a:cxnLst/>
              <a:rect r="r" b="b" t="t" l="l"/>
              <a:pathLst>
                <a:path h="3757168" w="5632958">
                  <a:moveTo>
                    <a:pt x="0" y="0"/>
                  </a:moveTo>
                  <a:lnTo>
                    <a:pt x="5632958" y="0"/>
                  </a:lnTo>
                  <a:lnTo>
                    <a:pt x="5632958" y="3757168"/>
                  </a:lnTo>
                  <a:lnTo>
                    <a:pt x="0" y="3757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 rot="1980">
            <a:off x="1050312" y="4096845"/>
            <a:ext cx="16350034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1980">
            <a:off x="1050312" y="7169763"/>
            <a:ext cx="16350034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831295" y="1594742"/>
            <a:ext cx="6002093" cy="2373916"/>
            <a:chOff x="0" y="0"/>
            <a:chExt cx="8002791" cy="3165221"/>
          </a:xfrm>
        </p:grpSpPr>
        <p:sp>
          <p:nvSpPr>
            <p:cNvPr name="Freeform 13" id="13" descr="3.000+ Cientista De Dados Ilustração de stock, gráficos vetoriais e clipart  royalty-free - iStock"/>
            <p:cNvSpPr/>
            <p:nvPr/>
          </p:nvSpPr>
          <p:spPr>
            <a:xfrm flipH="false" flipV="false" rot="0">
              <a:off x="0" y="0"/>
              <a:ext cx="8002778" cy="3165221"/>
            </a:xfrm>
            <a:custGeom>
              <a:avLst/>
              <a:gdLst/>
              <a:ahLst/>
              <a:cxnLst/>
              <a:rect r="r" b="b" t="t" l="l"/>
              <a:pathLst>
                <a:path h="3165221" w="8002778">
                  <a:moveTo>
                    <a:pt x="0" y="0"/>
                  </a:moveTo>
                  <a:lnTo>
                    <a:pt x="8002778" y="0"/>
                  </a:lnTo>
                  <a:lnTo>
                    <a:pt x="8002778" y="3165221"/>
                  </a:lnTo>
                  <a:lnTo>
                    <a:pt x="0" y="3165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76819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0350" y="497691"/>
            <a:ext cx="4305900" cy="3229423"/>
            <a:chOff x="0" y="0"/>
            <a:chExt cx="5741200" cy="4305897"/>
          </a:xfrm>
        </p:grpSpPr>
        <p:sp>
          <p:nvSpPr>
            <p:cNvPr name="Freeform 5" id="5" descr="Interface gráfica do usuário, Texto, Aplicativo  O conteúdo gerado por IA pode estar incorreto."/>
            <p:cNvSpPr/>
            <p:nvPr/>
          </p:nvSpPr>
          <p:spPr>
            <a:xfrm flipH="false" flipV="false" rot="0">
              <a:off x="0" y="0"/>
              <a:ext cx="5741162" cy="4305935"/>
            </a:xfrm>
            <a:custGeom>
              <a:avLst/>
              <a:gdLst/>
              <a:ahLst/>
              <a:cxnLst/>
              <a:rect r="r" b="b" t="t" l="l"/>
              <a:pathLst>
                <a:path h="4305935" w="5741162">
                  <a:moveTo>
                    <a:pt x="0" y="0"/>
                  </a:moveTo>
                  <a:lnTo>
                    <a:pt x="5741162" y="0"/>
                  </a:lnTo>
                  <a:lnTo>
                    <a:pt x="5741162" y="4305935"/>
                  </a:lnTo>
                  <a:lnTo>
                    <a:pt x="0" y="4305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0350" y="5718077"/>
            <a:ext cx="4258266" cy="3229423"/>
            <a:chOff x="0" y="0"/>
            <a:chExt cx="5677687" cy="4305897"/>
          </a:xfrm>
        </p:grpSpPr>
        <p:sp>
          <p:nvSpPr>
            <p:cNvPr name="Freeform 7" id="7" descr="Tabela  O conteúdo gerado por IA pode estar incorreto."/>
            <p:cNvSpPr/>
            <p:nvPr/>
          </p:nvSpPr>
          <p:spPr>
            <a:xfrm flipH="false" flipV="false" rot="0">
              <a:off x="0" y="0"/>
              <a:ext cx="5677662" cy="4305935"/>
            </a:xfrm>
            <a:custGeom>
              <a:avLst/>
              <a:gdLst/>
              <a:ahLst/>
              <a:cxnLst/>
              <a:rect r="r" b="b" t="t" l="l"/>
              <a:pathLst>
                <a:path h="4305935" w="5677662">
                  <a:moveTo>
                    <a:pt x="0" y="0"/>
                  </a:moveTo>
                  <a:lnTo>
                    <a:pt x="5677662" y="0"/>
                  </a:lnTo>
                  <a:lnTo>
                    <a:pt x="5677662" y="4305935"/>
                  </a:lnTo>
                  <a:lnTo>
                    <a:pt x="0" y="4305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26601" y="2346770"/>
            <a:ext cx="9563024" cy="5593461"/>
            <a:chOff x="0" y="0"/>
            <a:chExt cx="12750698" cy="7457948"/>
          </a:xfrm>
        </p:grpSpPr>
        <p:sp>
          <p:nvSpPr>
            <p:cNvPr name="Freeform 9" id="9" descr="Interface gráfica do usuário, Texto, Aplicativo, Email  O conteúdo gerado por IA pode estar incorreto."/>
            <p:cNvSpPr/>
            <p:nvPr/>
          </p:nvSpPr>
          <p:spPr>
            <a:xfrm flipH="false" flipV="false" rot="0">
              <a:off x="0" y="0"/>
              <a:ext cx="12750673" cy="7457948"/>
            </a:xfrm>
            <a:custGeom>
              <a:avLst/>
              <a:gdLst/>
              <a:ahLst/>
              <a:cxnLst/>
              <a:rect r="r" b="b" t="t" l="l"/>
              <a:pathLst>
                <a:path h="7457948" w="12750673">
                  <a:moveTo>
                    <a:pt x="0" y="0"/>
                  </a:moveTo>
                  <a:lnTo>
                    <a:pt x="12750673" y="0"/>
                  </a:lnTo>
                  <a:lnTo>
                    <a:pt x="12750673" y="7457948"/>
                  </a:lnTo>
                  <a:lnTo>
                    <a:pt x="0" y="7457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51892" y="1806816"/>
            <a:ext cx="3006966" cy="487975"/>
            <a:chOff x="0" y="0"/>
            <a:chExt cx="4009288" cy="6506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09263" cy="650621"/>
            </a:xfrm>
            <a:custGeom>
              <a:avLst/>
              <a:gdLst/>
              <a:ahLst/>
              <a:cxnLst/>
              <a:rect r="r" b="b" t="t" l="l"/>
              <a:pathLst>
                <a:path h="650621" w="4009263">
                  <a:moveTo>
                    <a:pt x="0" y="108458"/>
                  </a:moveTo>
                  <a:cubicBezTo>
                    <a:pt x="0" y="48514"/>
                    <a:pt x="48514" y="0"/>
                    <a:pt x="108458" y="0"/>
                  </a:cubicBezTo>
                  <a:lnTo>
                    <a:pt x="3900805" y="0"/>
                  </a:lnTo>
                  <a:cubicBezTo>
                    <a:pt x="3960749" y="0"/>
                    <a:pt x="4009263" y="48514"/>
                    <a:pt x="4009263" y="108458"/>
                  </a:cubicBezTo>
                  <a:lnTo>
                    <a:pt x="4009263" y="542163"/>
                  </a:lnTo>
                  <a:cubicBezTo>
                    <a:pt x="4009263" y="602107"/>
                    <a:pt x="3960749" y="650621"/>
                    <a:pt x="3900805" y="650621"/>
                  </a:cubicBezTo>
                  <a:lnTo>
                    <a:pt x="108458" y="650621"/>
                  </a:lnTo>
                  <a:cubicBezTo>
                    <a:pt x="48514" y="650621"/>
                    <a:pt x="0" y="602107"/>
                    <a:pt x="0" y="542163"/>
                  </a:cubicBezTo>
                  <a:close/>
                </a:path>
              </a:pathLst>
            </a:custGeom>
            <a:solidFill>
              <a:srgbClr val="5B9BD5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79051" y="8282349"/>
            <a:ext cx="3179816" cy="395649"/>
            <a:chOff x="0" y="0"/>
            <a:chExt cx="4239755" cy="5275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39768" cy="527558"/>
            </a:xfrm>
            <a:custGeom>
              <a:avLst/>
              <a:gdLst/>
              <a:ahLst/>
              <a:cxnLst/>
              <a:rect r="r" b="b" t="t" l="l"/>
              <a:pathLst>
                <a:path h="527558" w="4239768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4151884" y="0"/>
                  </a:lnTo>
                  <a:cubicBezTo>
                    <a:pt x="4200398" y="0"/>
                    <a:pt x="4239768" y="39370"/>
                    <a:pt x="4239768" y="87884"/>
                  </a:cubicBezTo>
                  <a:lnTo>
                    <a:pt x="4239768" y="439674"/>
                  </a:lnTo>
                  <a:cubicBezTo>
                    <a:pt x="4239768" y="488188"/>
                    <a:pt x="4200398" y="527558"/>
                    <a:pt x="4151884" y="527558"/>
                  </a:cubicBezTo>
                  <a:lnTo>
                    <a:pt x="87884" y="527558"/>
                  </a:lnTo>
                  <a:cubicBezTo>
                    <a:pt x="39370" y="527558"/>
                    <a:pt x="0" y="488188"/>
                    <a:pt x="0" y="439674"/>
                  </a:cubicBezTo>
                  <a:close/>
                </a:path>
              </a:pathLst>
            </a:custGeom>
            <a:solidFill>
              <a:srgbClr val="5B9BD5">
                <a:alpha val="24706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17875" y="2637692"/>
            <a:ext cx="1450734" cy="290141"/>
            <a:chOff x="0" y="0"/>
            <a:chExt cx="1934312" cy="3868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4337" cy="386842"/>
            </a:xfrm>
            <a:custGeom>
              <a:avLst/>
              <a:gdLst/>
              <a:ahLst/>
              <a:cxnLst/>
              <a:rect r="r" b="b" t="t" l="l"/>
              <a:pathLst>
                <a:path h="386842" w="1934337">
                  <a:moveTo>
                    <a:pt x="0" y="64516"/>
                  </a:moveTo>
                  <a:cubicBezTo>
                    <a:pt x="0" y="28829"/>
                    <a:pt x="28829" y="0"/>
                    <a:pt x="64516" y="0"/>
                  </a:cubicBezTo>
                  <a:lnTo>
                    <a:pt x="1869821" y="0"/>
                  </a:lnTo>
                  <a:cubicBezTo>
                    <a:pt x="1905381" y="0"/>
                    <a:pt x="1934337" y="28829"/>
                    <a:pt x="1934337" y="64516"/>
                  </a:cubicBezTo>
                  <a:lnTo>
                    <a:pt x="1934337" y="322326"/>
                  </a:lnTo>
                  <a:cubicBezTo>
                    <a:pt x="1934337" y="357886"/>
                    <a:pt x="1905508" y="386842"/>
                    <a:pt x="1869821" y="386842"/>
                  </a:cubicBezTo>
                  <a:lnTo>
                    <a:pt x="64516" y="386842"/>
                  </a:lnTo>
                  <a:cubicBezTo>
                    <a:pt x="28829" y="386842"/>
                    <a:pt x="0" y="358013"/>
                    <a:pt x="0" y="322326"/>
                  </a:cubicBezTo>
                  <a:close/>
                </a:path>
              </a:pathLst>
            </a:custGeom>
            <a:solidFill>
              <a:srgbClr val="5B9BD5">
                <a:alpha val="24706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05357" y="694801"/>
            <a:ext cx="6605502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Visualização dos Usuários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6302" y="970969"/>
            <a:ext cx="14975386" cy="8345062"/>
            <a:chOff x="0" y="0"/>
            <a:chExt cx="19967181" cy="11126749"/>
          </a:xfrm>
        </p:grpSpPr>
        <p:sp>
          <p:nvSpPr>
            <p:cNvPr name="Freeform 5" id="5" descr="Interface gráfica do usuário, Texto, Aplicativo, Email  O conteúdo gerado por IA pode estar incorreto."/>
            <p:cNvSpPr/>
            <p:nvPr/>
          </p:nvSpPr>
          <p:spPr>
            <a:xfrm flipH="false" flipV="false" rot="0">
              <a:off x="0" y="0"/>
              <a:ext cx="19967194" cy="11126724"/>
            </a:xfrm>
            <a:custGeom>
              <a:avLst/>
              <a:gdLst/>
              <a:ahLst/>
              <a:cxnLst/>
              <a:rect r="r" b="b" t="t" l="l"/>
              <a:pathLst>
                <a:path h="11126724" w="19967194">
                  <a:moveTo>
                    <a:pt x="0" y="0"/>
                  </a:moveTo>
                  <a:lnTo>
                    <a:pt x="19967194" y="0"/>
                  </a:lnTo>
                  <a:lnTo>
                    <a:pt x="19967194" y="11126724"/>
                  </a:lnTo>
                  <a:lnTo>
                    <a:pt x="0" y="11126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32565" y="7365048"/>
            <a:ext cx="5446430" cy="2821795"/>
            <a:chOff x="0" y="0"/>
            <a:chExt cx="2647365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473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6473655">
                  <a:moveTo>
                    <a:pt x="0" y="0"/>
                  </a:moveTo>
                  <a:lnTo>
                    <a:pt x="26473655" y="0"/>
                  </a:lnTo>
                  <a:lnTo>
                    <a:pt x="2647365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4" r="0" b="-10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71546" y="227809"/>
            <a:ext cx="254489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Exercício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9707" y="1966836"/>
            <a:ext cx="10143687" cy="550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Você foi contratado para garantir a segurança do banco de dados de uma loja virtual. Considere a Tabela a Seguir: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Parte 1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a) Crie um usuário chamado dev_junior que possa acessar o banco de qualquer lugar;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b) Dê a ele a permissão de apenas leitura (Select) em todas as tabelas do banco ‘ecommerce’;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c) O dev_junior acabou sendo promovido. Dessa forma, ele agora pode inserir os dados na tabela produtos, mas não pode deletar nenhum registro;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d) Remova todas as permissões de Insert desse usuário;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76246" y="2834421"/>
            <a:ext cx="4823679" cy="4823679"/>
            <a:chOff x="0" y="0"/>
            <a:chExt cx="6431572" cy="6431572"/>
          </a:xfrm>
        </p:grpSpPr>
        <p:sp>
          <p:nvSpPr>
            <p:cNvPr name="Freeform 7" id="7" descr="Ilustração de desenhos animados de venda de compras on-line | Vetor Premium"/>
            <p:cNvSpPr/>
            <p:nvPr/>
          </p:nvSpPr>
          <p:spPr>
            <a:xfrm flipH="false" flipV="false" rot="0">
              <a:off x="0" y="0"/>
              <a:ext cx="6431534" cy="6431534"/>
            </a:xfrm>
            <a:custGeom>
              <a:avLst/>
              <a:gdLst/>
              <a:ahLst/>
              <a:cxnLst/>
              <a:rect r="r" b="b" t="t" l="l"/>
              <a:pathLst>
                <a:path h="6431534" w="6431534">
                  <a:moveTo>
                    <a:pt x="0" y="0"/>
                  </a:moveTo>
                  <a:lnTo>
                    <a:pt x="6431534" y="0"/>
                  </a:lnTo>
                  <a:lnTo>
                    <a:pt x="6431534" y="6431534"/>
                  </a:lnTo>
                  <a:lnTo>
                    <a:pt x="0" y="6431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71546" y="227809"/>
            <a:ext cx="254489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Exercício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76246" y="2834421"/>
            <a:ext cx="4823679" cy="4823679"/>
            <a:chOff x="0" y="0"/>
            <a:chExt cx="6431572" cy="6431572"/>
          </a:xfrm>
        </p:grpSpPr>
        <p:sp>
          <p:nvSpPr>
            <p:cNvPr name="Freeform 6" id="6" descr="Ilustração de desenhos animados de venda de compras on-line | Vetor Premium"/>
            <p:cNvSpPr/>
            <p:nvPr/>
          </p:nvSpPr>
          <p:spPr>
            <a:xfrm flipH="false" flipV="false" rot="0">
              <a:off x="0" y="0"/>
              <a:ext cx="6431534" cy="6431534"/>
            </a:xfrm>
            <a:custGeom>
              <a:avLst/>
              <a:gdLst/>
              <a:ahLst/>
              <a:cxnLst/>
              <a:rect r="r" b="b" t="t" l="l"/>
              <a:pathLst>
                <a:path h="6431534" w="6431534">
                  <a:moveTo>
                    <a:pt x="0" y="0"/>
                  </a:moveTo>
                  <a:lnTo>
                    <a:pt x="6431534" y="0"/>
                  </a:lnTo>
                  <a:lnTo>
                    <a:pt x="6431534" y="6431534"/>
                  </a:lnTo>
                  <a:lnTo>
                    <a:pt x="0" y="6431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59707" y="1966836"/>
            <a:ext cx="10143687" cy="592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Houve um crescimento exponencial da empresa e o gerenciamento individual se tornou impossível</a:t>
            </a:r>
          </a:p>
          <a:p>
            <a:pPr algn="l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Parte 2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a) Crie um papel (Role) chamado role_vendas;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b) Atribua a essa Role a permissão de ver apenas as colunas ‘nome’ e ‘preco’ da tabela produtos;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c) Crie o usuário vendedor_1 e atribua a ele a Role criada;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d) Supondo que este usuário tente consultar os produtos. O que acontece se ele tentar dar um ‘Select *’ ?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77890" y="3475225"/>
            <a:ext cx="6332220" cy="300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AULA CONCLUÍDA!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DAHWtJGcFUM</dc:identifier>
  <dcterms:modified xsi:type="dcterms:W3CDTF">2011-08-01T06:04:30Z</dcterms:modified>
  <cp:revision>1</cp:revision>
  <dc:title>ComandosDCL.pptx</dc:title>
</cp:coreProperties>
</file>