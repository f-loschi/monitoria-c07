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9698" y="131445"/>
            <a:ext cx="572555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Banco de Dados – C07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9301" y="9282403"/>
            <a:ext cx="4324151" cy="43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2548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Material: </a:t>
            </a:r>
            <a:r>
              <a:rPr lang="en-US" sz="2548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Felipe Tagawa Reis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9698" y="8279945"/>
            <a:ext cx="4855112" cy="109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Comandos DDL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9301" y="839369"/>
            <a:ext cx="3057823" cy="53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313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Felipe Silva Loschi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4625" y="1535906"/>
            <a:ext cx="12858750" cy="7215188"/>
            <a:chOff x="0" y="0"/>
            <a:chExt cx="17145000" cy="9620250"/>
          </a:xfrm>
        </p:grpSpPr>
        <p:sp>
          <p:nvSpPr>
            <p:cNvPr name="Freeform 5" id="5" descr="Types of SQL Commands. - Learnomate Technologies"/>
            <p:cNvSpPr/>
            <p:nvPr/>
          </p:nvSpPr>
          <p:spPr>
            <a:xfrm flipH="false" flipV="false" rot="0">
              <a:off x="0" y="0"/>
              <a:ext cx="17145000" cy="9620250"/>
            </a:xfrm>
            <a:custGeom>
              <a:avLst/>
              <a:gdLst/>
              <a:ahLst/>
              <a:cxnLst/>
              <a:rect r="r" b="b" t="t" l="l"/>
              <a:pathLst>
                <a:path h="9620250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9620250"/>
                  </a:lnTo>
                  <a:lnTo>
                    <a:pt x="0" y="962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73614" y="214627"/>
            <a:ext cx="4340762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Linguagem SQL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89044" y="201435"/>
            <a:ext cx="370991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Aula de Hoje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14625" y="1535906"/>
            <a:ext cx="12858750" cy="7215188"/>
            <a:chOff x="0" y="0"/>
            <a:chExt cx="17145000" cy="9620250"/>
          </a:xfrm>
        </p:grpSpPr>
        <p:sp>
          <p:nvSpPr>
            <p:cNvPr name="Freeform 6" id="6" descr="Types of SQL Commands. - Learnomate Technologies"/>
            <p:cNvSpPr/>
            <p:nvPr/>
          </p:nvSpPr>
          <p:spPr>
            <a:xfrm flipH="false" flipV="false" rot="0">
              <a:off x="0" y="0"/>
              <a:ext cx="17145000" cy="9620250"/>
            </a:xfrm>
            <a:custGeom>
              <a:avLst/>
              <a:gdLst/>
              <a:ahLst/>
              <a:cxnLst/>
              <a:rect r="r" b="b" t="t" l="l"/>
              <a:pathLst>
                <a:path h="9620250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9620250"/>
                  </a:lnTo>
                  <a:lnTo>
                    <a:pt x="0" y="962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76725" y="4057974"/>
            <a:ext cx="652101" cy="414699"/>
            <a:chOff x="0" y="0"/>
            <a:chExt cx="869467" cy="5529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442" cy="552958"/>
            </a:xfrm>
            <a:custGeom>
              <a:avLst/>
              <a:gdLst/>
              <a:ahLst/>
              <a:cxnLst/>
              <a:rect r="r" b="b" t="t" l="l"/>
              <a:pathLst>
                <a:path h="552958" w="869442">
                  <a:moveTo>
                    <a:pt x="869442" y="138176"/>
                  </a:moveTo>
                  <a:lnTo>
                    <a:pt x="276479" y="138176"/>
                  </a:lnTo>
                  <a:lnTo>
                    <a:pt x="276479" y="0"/>
                  </a:lnTo>
                  <a:lnTo>
                    <a:pt x="0" y="276479"/>
                  </a:lnTo>
                  <a:lnTo>
                    <a:pt x="276479" y="552958"/>
                  </a:lnTo>
                  <a:lnTo>
                    <a:pt x="276479" y="414655"/>
                  </a:lnTo>
                  <a:lnTo>
                    <a:pt x="869442" y="414655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276725" y="4552188"/>
            <a:ext cx="652101" cy="414699"/>
            <a:chOff x="0" y="0"/>
            <a:chExt cx="869467" cy="552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9442" cy="552958"/>
            </a:xfrm>
            <a:custGeom>
              <a:avLst/>
              <a:gdLst/>
              <a:ahLst/>
              <a:cxnLst/>
              <a:rect r="r" b="b" t="t" l="l"/>
              <a:pathLst>
                <a:path h="552958" w="869442">
                  <a:moveTo>
                    <a:pt x="869442" y="138176"/>
                  </a:moveTo>
                  <a:lnTo>
                    <a:pt x="276479" y="138176"/>
                  </a:lnTo>
                  <a:lnTo>
                    <a:pt x="276479" y="0"/>
                  </a:lnTo>
                  <a:lnTo>
                    <a:pt x="0" y="276479"/>
                  </a:lnTo>
                  <a:lnTo>
                    <a:pt x="276479" y="552958"/>
                  </a:lnTo>
                  <a:lnTo>
                    <a:pt x="276479" y="414655"/>
                  </a:lnTo>
                  <a:lnTo>
                    <a:pt x="869442" y="414655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764700" y="4936150"/>
            <a:ext cx="652101" cy="414699"/>
            <a:chOff x="0" y="0"/>
            <a:chExt cx="869467" cy="552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9442" cy="552958"/>
            </a:xfrm>
            <a:custGeom>
              <a:avLst/>
              <a:gdLst/>
              <a:ahLst/>
              <a:cxnLst/>
              <a:rect r="r" b="b" t="t" l="l"/>
              <a:pathLst>
                <a:path h="552958" w="869442">
                  <a:moveTo>
                    <a:pt x="869442" y="138176"/>
                  </a:moveTo>
                  <a:lnTo>
                    <a:pt x="276479" y="138176"/>
                  </a:lnTo>
                  <a:lnTo>
                    <a:pt x="276479" y="0"/>
                  </a:lnTo>
                  <a:lnTo>
                    <a:pt x="0" y="276479"/>
                  </a:lnTo>
                  <a:lnTo>
                    <a:pt x="276479" y="552958"/>
                  </a:lnTo>
                  <a:lnTo>
                    <a:pt x="276479" y="414655"/>
                  </a:lnTo>
                  <a:lnTo>
                    <a:pt x="869442" y="414655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448175" y="3597964"/>
            <a:ext cx="652101" cy="414699"/>
            <a:chOff x="0" y="0"/>
            <a:chExt cx="869467" cy="5529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442" cy="552958"/>
            </a:xfrm>
            <a:custGeom>
              <a:avLst/>
              <a:gdLst/>
              <a:ahLst/>
              <a:cxnLst/>
              <a:rect r="r" b="b" t="t" l="l"/>
              <a:pathLst>
                <a:path h="552958" w="869442">
                  <a:moveTo>
                    <a:pt x="869442" y="138176"/>
                  </a:moveTo>
                  <a:lnTo>
                    <a:pt x="276479" y="138176"/>
                  </a:lnTo>
                  <a:lnTo>
                    <a:pt x="276479" y="0"/>
                  </a:lnTo>
                  <a:lnTo>
                    <a:pt x="0" y="276479"/>
                  </a:lnTo>
                  <a:lnTo>
                    <a:pt x="276479" y="552958"/>
                  </a:lnTo>
                  <a:lnTo>
                    <a:pt x="276479" y="414655"/>
                  </a:lnTo>
                  <a:lnTo>
                    <a:pt x="869442" y="414655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10099" y="175060"/>
            <a:ext cx="526780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CREATE</a:t>
            </a:r>
          </a:p>
        </p:txBody>
      </p:sp>
      <p:sp>
        <p:nvSpPr>
          <p:cNvPr name="AutoShape 5" id="5"/>
          <p:cNvSpPr/>
          <p:nvPr/>
        </p:nvSpPr>
        <p:spPr>
          <a:xfrm rot="6688320">
            <a:off x="1804387" y="6639687"/>
            <a:ext cx="111605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 rot="4703460">
            <a:off x="3880199" y="6735966"/>
            <a:ext cx="160623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" id="7"/>
          <p:cNvSpPr/>
          <p:nvPr/>
        </p:nvSpPr>
        <p:spPr>
          <a:xfrm rot="4431360">
            <a:off x="5848312" y="6770132"/>
            <a:ext cx="156684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" id="8"/>
          <p:cNvSpPr/>
          <p:nvPr/>
        </p:nvSpPr>
        <p:spPr>
          <a:xfrm rot="5376660">
            <a:off x="9256138" y="6821529"/>
            <a:ext cx="140229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 rot="5378220">
            <a:off x="13252561" y="6770132"/>
            <a:ext cx="15050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1062285" y="7262555"/>
            <a:ext cx="1408186" cy="93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Nome do Atributo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36069" y="7707735"/>
            <a:ext cx="1408186" cy="935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Tipo do Atributo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13056" y="7747302"/>
            <a:ext cx="1874520" cy="176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Indica que o Atributo </a:t>
            </a:r>
            <a:r>
              <a:rPr lang="en-US" sz="27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não pode ser nulo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81387" y="7644079"/>
            <a:ext cx="3589020" cy="259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Para Atributos numéricos, esse modificador incrementa em 1 no último inserido, sem a necessidade de inserir manualmente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36998" y="7888462"/>
            <a:ext cx="2428437" cy="218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Indica que este é um Atributo chave para a tabela em questão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37222" y="728386"/>
            <a:ext cx="3490198" cy="484746"/>
            <a:chOff x="0" y="0"/>
            <a:chExt cx="4653598" cy="6463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53534" cy="646303"/>
            </a:xfrm>
            <a:custGeom>
              <a:avLst/>
              <a:gdLst/>
              <a:ahLst/>
              <a:cxnLst/>
              <a:rect r="r" b="b" t="t" l="l"/>
              <a:pathLst>
                <a:path h="646303" w="4653534">
                  <a:moveTo>
                    <a:pt x="0" y="0"/>
                  </a:moveTo>
                  <a:lnTo>
                    <a:pt x="4653534" y="0"/>
                  </a:lnTo>
                  <a:lnTo>
                    <a:pt x="4653534" y="646303"/>
                  </a:lnTo>
                  <a:lnTo>
                    <a:pt x="0" y="646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595506" y="1506531"/>
            <a:ext cx="6681445" cy="757342"/>
            <a:chOff x="0" y="0"/>
            <a:chExt cx="8908593" cy="10097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08542" cy="1009777"/>
            </a:xfrm>
            <a:custGeom>
              <a:avLst/>
              <a:gdLst/>
              <a:ahLst/>
              <a:cxnLst/>
              <a:rect r="r" b="b" t="t" l="l"/>
              <a:pathLst>
                <a:path h="1009777" w="8908542">
                  <a:moveTo>
                    <a:pt x="0" y="0"/>
                  </a:moveTo>
                  <a:lnTo>
                    <a:pt x="8908542" y="0"/>
                  </a:lnTo>
                  <a:lnTo>
                    <a:pt x="8908542" y="1009777"/>
                  </a:lnTo>
                  <a:lnTo>
                    <a:pt x="0" y="1009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AutoShape 19" id="19"/>
          <p:cNvSpPr/>
          <p:nvPr/>
        </p:nvSpPr>
        <p:spPr>
          <a:xfrm rot="-1855440">
            <a:off x="5560219" y="1944300"/>
            <a:ext cx="99502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6723174" y="1409729"/>
            <a:ext cx="1281036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Objeto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42015" y="5201460"/>
            <a:ext cx="15003970" cy="757342"/>
            <a:chOff x="0" y="0"/>
            <a:chExt cx="20005294" cy="10097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005294" cy="1009777"/>
            </a:xfrm>
            <a:custGeom>
              <a:avLst/>
              <a:gdLst/>
              <a:ahLst/>
              <a:cxnLst/>
              <a:rect r="r" b="b" t="t" l="l"/>
              <a:pathLst>
                <a:path h="1009777" w="20005294">
                  <a:moveTo>
                    <a:pt x="0" y="0"/>
                  </a:moveTo>
                  <a:lnTo>
                    <a:pt x="20005294" y="0"/>
                  </a:lnTo>
                  <a:lnTo>
                    <a:pt x="20005294" y="1009777"/>
                  </a:lnTo>
                  <a:lnTo>
                    <a:pt x="0" y="1009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427752" y="2262435"/>
            <a:ext cx="11432486" cy="2766679"/>
            <a:chOff x="0" y="0"/>
            <a:chExt cx="15243315" cy="3688905"/>
          </a:xfrm>
        </p:grpSpPr>
        <p:sp>
          <p:nvSpPr>
            <p:cNvPr name="Freeform 24" id="24" descr="Interface gráfica do usuário, Aplicativo  O conteúdo gerado por IA pode estar incorreto."/>
            <p:cNvSpPr/>
            <p:nvPr/>
          </p:nvSpPr>
          <p:spPr>
            <a:xfrm flipH="false" flipV="false" rot="0">
              <a:off x="0" y="0"/>
              <a:ext cx="15243302" cy="3688969"/>
            </a:xfrm>
            <a:custGeom>
              <a:avLst/>
              <a:gdLst/>
              <a:ahLst/>
              <a:cxnLst/>
              <a:rect r="r" b="b" t="t" l="l"/>
              <a:pathLst>
                <a:path h="3688969" w="15243302">
                  <a:moveTo>
                    <a:pt x="0" y="0"/>
                  </a:moveTo>
                  <a:lnTo>
                    <a:pt x="15243302" y="0"/>
                  </a:lnTo>
                  <a:lnTo>
                    <a:pt x="15243302" y="3688969"/>
                  </a:lnTo>
                  <a:lnTo>
                    <a:pt x="0" y="3688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55451" y="201435"/>
            <a:ext cx="497710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DROP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88644" y="1603162"/>
            <a:ext cx="10110711" cy="142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de </a:t>
            </a:r>
            <a:r>
              <a:rPr lang="en-US" sz="4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exclusão de objetos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presentes no banco de dados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717503" y="4025598"/>
            <a:ext cx="10853004" cy="4841291"/>
            <a:chOff x="0" y="0"/>
            <a:chExt cx="14470672" cy="6455054"/>
          </a:xfrm>
        </p:grpSpPr>
        <p:sp>
          <p:nvSpPr>
            <p:cNvPr name="Freeform 7" id="7" descr="Uma imagem contendo Texto  O conteúdo gerado por IA pode estar incorreto."/>
            <p:cNvSpPr/>
            <p:nvPr/>
          </p:nvSpPr>
          <p:spPr>
            <a:xfrm flipH="false" flipV="false" rot="0">
              <a:off x="0" y="0"/>
              <a:ext cx="14470635" cy="6455029"/>
            </a:xfrm>
            <a:custGeom>
              <a:avLst/>
              <a:gdLst/>
              <a:ahLst/>
              <a:cxnLst/>
              <a:rect r="r" b="b" t="t" l="l"/>
              <a:pathLst>
                <a:path h="6455029" w="14470635">
                  <a:moveTo>
                    <a:pt x="0" y="0"/>
                  </a:moveTo>
                  <a:lnTo>
                    <a:pt x="14470635" y="0"/>
                  </a:lnTo>
                  <a:lnTo>
                    <a:pt x="14470635" y="6455029"/>
                  </a:lnTo>
                  <a:lnTo>
                    <a:pt x="0" y="645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906844" y="4838462"/>
            <a:ext cx="1387983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21413" y="6854419"/>
            <a:ext cx="1387983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62211" y="8884653"/>
            <a:ext cx="1387983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55451" y="201435"/>
            <a:ext cx="497710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ALTER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12229" y="1931079"/>
            <a:ext cx="10663533" cy="142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de </a:t>
            </a:r>
            <a:r>
              <a:rPr lang="en-US" sz="4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modificação de objetos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presentes no banco de dados</a:t>
            </a:r>
          </a:p>
        </p:txBody>
      </p:sp>
      <p:sp>
        <p:nvSpPr>
          <p:cNvPr name="AutoShape 6" id="6"/>
          <p:cNvSpPr/>
          <p:nvPr/>
        </p:nvSpPr>
        <p:spPr>
          <a:xfrm rot="2034060">
            <a:off x="7236000" y="4827156"/>
            <a:ext cx="1134351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" id="7"/>
          <p:cNvSpPr/>
          <p:nvPr/>
        </p:nvSpPr>
        <p:spPr>
          <a:xfrm rot="2478300">
            <a:off x="7642498" y="8462715"/>
            <a:ext cx="1253338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9099156" y="8511978"/>
            <a:ext cx="7558745" cy="103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Altera algo </a:t>
            </a:r>
            <a:r>
              <a:rPr lang="en-US" sz="30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existente: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Tipo de dado, capacidade do dado ou restrição</a:t>
            </a:r>
          </a:p>
        </p:txBody>
      </p:sp>
      <p:sp>
        <p:nvSpPr>
          <p:cNvPr name="AutoShape 9" id="9"/>
          <p:cNvSpPr/>
          <p:nvPr/>
        </p:nvSpPr>
        <p:spPr>
          <a:xfrm rot="-5360400">
            <a:off x="15359729" y="8462715"/>
            <a:ext cx="827351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720338" y="4147766"/>
            <a:ext cx="16847315" cy="3915318"/>
            <a:chOff x="0" y="0"/>
            <a:chExt cx="22463087" cy="5220424"/>
          </a:xfrm>
        </p:grpSpPr>
        <p:sp>
          <p:nvSpPr>
            <p:cNvPr name="Freeform 11" id="11" descr="Interface gráfica do usuário, Texto"/>
            <p:cNvSpPr/>
            <p:nvPr/>
          </p:nvSpPr>
          <p:spPr>
            <a:xfrm flipH="false" flipV="false" rot="0">
              <a:off x="0" y="0"/>
              <a:ext cx="22463125" cy="5220462"/>
            </a:xfrm>
            <a:custGeom>
              <a:avLst/>
              <a:gdLst/>
              <a:ahLst/>
              <a:cxnLst/>
              <a:rect r="r" b="b" t="t" l="l"/>
              <a:pathLst>
                <a:path h="5220462" w="22463125">
                  <a:moveTo>
                    <a:pt x="0" y="0"/>
                  </a:moveTo>
                  <a:lnTo>
                    <a:pt x="22463125" y="0"/>
                  </a:lnTo>
                  <a:lnTo>
                    <a:pt x="22463125" y="5220462"/>
                  </a:lnTo>
                  <a:lnTo>
                    <a:pt x="0" y="5220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rot="-3651600">
            <a:off x="12409151" y="8655929"/>
            <a:ext cx="877224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9472832" y="6678311"/>
            <a:ext cx="3215345" cy="57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Exclui algo </a:t>
            </a:r>
            <a:r>
              <a:rPr lang="en-US" sz="30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existente </a:t>
            </a:r>
          </a:p>
        </p:txBody>
      </p:sp>
      <p:sp>
        <p:nvSpPr>
          <p:cNvPr name="AutoShape 14" id="14"/>
          <p:cNvSpPr/>
          <p:nvPr/>
        </p:nvSpPr>
        <p:spPr>
          <a:xfrm rot="1878180">
            <a:off x="8285683" y="6691341"/>
            <a:ext cx="1096775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5" id="15"/>
          <p:cNvSpPr txBox="true"/>
          <p:nvPr/>
        </p:nvSpPr>
        <p:spPr>
          <a:xfrm rot="0">
            <a:off x="8461715" y="5044878"/>
            <a:ext cx="4635313" cy="57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Adiciona algo </a:t>
            </a:r>
            <a:r>
              <a:rPr lang="en-US" sz="30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novo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ao objeto</a:t>
            </a:r>
          </a:p>
        </p:txBody>
      </p:sp>
      <p:sp>
        <p:nvSpPr>
          <p:cNvPr name="AutoShape 16" id="16"/>
          <p:cNvSpPr/>
          <p:nvPr/>
        </p:nvSpPr>
        <p:spPr>
          <a:xfrm rot="1878180">
            <a:off x="7226989" y="5069319"/>
            <a:ext cx="1096775" cy="0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7" id="17"/>
          <p:cNvSpPr txBox="true"/>
          <p:nvPr/>
        </p:nvSpPr>
        <p:spPr>
          <a:xfrm rot="0">
            <a:off x="3026797" y="4820488"/>
            <a:ext cx="1387983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81549" y="201435"/>
            <a:ext cx="492490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SHOW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20076" y="1797491"/>
            <a:ext cx="12647847" cy="142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para </a:t>
            </a:r>
            <a:r>
              <a:rPr lang="en-US" sz="4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mostrar informações de Objetos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presentes no banco de dados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209820" y="3525269"/>
            <a:ext cx="11973849" cy="5816441"/>
            <a:chOff x="0" y="0"/>
            <a:chExt cx="15965132" cy="7755255"/>
          </a:xfrm>
        </p:grpSpPr>
        <p:sp>
          <p:nvSpPr>
            <p:cNvPr name="Freeform 7" id="7" descr="Texto  O conteúdo gerado por IA pode estar incorreto."/>
            <p:cNvSpPr/>
            <p:nvPr/>
          </p:nvSpPr>
          <p:spPr>
            <a:xfrm flipH="false" flipV="false" rot="0">
              <a:off x="0" y="0"/>
              <a:ext cx="15965170" cy="7755255"/>
            </a:xfrm>
            <a:custGeom>
              <a:avLst/>
              <a:gdLst/>
              <a:ahLst/>
              <a:cxnLst/>
              <a:rect r="r" b="b" t="t" l="l"/>
              <a:pathLst>
                <a:path h="7755255" w="15965170">
                  <a:moveTo>
                    <a:pt x="0" y="0"/>
                  </a:moveTo>
                  <a:lnTo>
                    <a:pt x="15965170" y="0"/>
                  </a:lnTo>
                  <a:lnTo>
                    <a:pt x="15965170" y="7755255"/>
                  </a:lnTo>
                  <a:lnTo>
                    <a:pt x="0" y="7755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021135" y="4693063"/>
            <a:ext cx="1387983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41212" y="6859676"/>
            <a:ext cx="1387983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35703" y="9105576"/>
            <a:ext cx="1387983" cy="51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167056" y="148685"/>
            <a:ext cx="5953877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TRUNCATE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92112" y="1916182"/>
            <a:ext cx="13903776" cy="142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para </a:t>
            </a:r>
            <a:r>
              <a:rPr lang="en-US" sz="4200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remover dados de uma tabela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sem a necessidade de deletar sua estrutura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85189" y="7163095"/>
            <a:ext cx="12517612" cy="1350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Muito mais rápido que o DELETE;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Ideal para casos de exclusão geral de dados de uma tabela, a fim de iniciar novos registros com novos valores de ID.</a:t>
            </a:r>
          </a:p>
        </p:txBody>
      </p:sp>
      <p:sp>
        <p:nvSpPr>
          <p:cNvPr name="Freeform 7" id="7" descr="Uma imagem contendo Texto  O conteúdo gerado por IA pode estar incorreto."/>
          <p:cNvSpPr/>
          <p:nvPr/>
        </p:nvSpPr>
        <p:spPr>
          <a:xfrm flipH="false" flipV="false" rot="0">
            <a:off x="2945525" y="4542812"/>
            <a:ext cx="12396951" cy="1739212"/>
          </a:xfrm>
          <a:custGeom>
            <a:avLst/>
            <a:gdLst/>
            <a:ahLst/>
            <a:cxnLst/>
            <a:rect r="r" b="b" t="t" l="l"/>
            <a:pathLst>
              <a:path h="1739212" w="12396951">
                <a:moveTo>
                  <a:pt x="0" y="0"/>
                </a:moveTo>
                <a:lnTo>
                  <a:pt x="12396950" y="0"/>
                </a:lnTo>
                <a:lnTo>
                  <a:pt x="12396950" y="1739212"/>
                </a:lnTo>
                <a:lnTo>
                  <a:pt x="0" y="1739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272498" y="241002"/>
            <a:ext cx="5743004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Modificadores Úteis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7532" y="1746294"/>
            <a:ext cx="7695028" cy="76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IF EXISTS – completamente opcional.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94815" y="1746294"/>
            <a:ext cx="7695028" cy="2283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IF NOT EXISTS –  fundamental para evitar erros relativos à duplicidade de cláusulas.</a:t>
            </a:r>
          </a:p>
          <a:p>
            <a:pPr algn="l" marL="651510" indent="-325755" lvl="1">
              <a:lnSpc>
                <a:spcPts val="43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57532" y="4886592"/>
            <a:ext cx="6304445" cy="271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USE</a:t>
            </a:r>
          </a:p>
          <a:p>
            <a:pPr algn="l" marL="542925" indent="-271462" lvl="1">
              <a:lnSpc>
                <a:spcPts val="3600"/>
              </a:lnSpc>
            </a:pPr>
          </a:p>
          <a:p>
            <a:pPr algn="l" marL="542925" indent="-271462" lvl="1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Instrui o SGBD a utilizar o banco de dados especificado para executar os comandos.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85075" y="2997232"/>
            <a:ext cx="7401725" cy="1322108"/>
            <a:chOff x="0" y="0"/>
            <a:chExt cx="9868967" cy="1762811"/>
          </a:xfrm>
        </p:grpSpPr>
        <p:sp>
          <p:nvSpPr>
            <p:cNvPr name="Freeform 9" id="9" descr="Uma imagem contendo Ícone  O conteúdo gerado por IA pode estar incorreto."/>
            <p:cNvSpPr/>
            <p:nvPr/>
          </p:nvSpPr>
          <p:spPr>
            <a:xfrm flipH="false" flipV="false" rot="0">
              <a:off x="0" y="0"/>
              <a:ext cx="9868916" cy="1762760"/>
            </a:xfrm>
            <a:custGeom>
              <a:avLst/>
              <a:gdLst/>
              <a:ahLst/>
              <a:cxnLst/>
              <a:rect r="r" b="b" t="t" l="l"/>
              <a:pathLst>
                <a:path h="1762760" w="9868916">
                  <a:moveTo>
                    <a:pt x="0" y="0"/>
                  </a:moveTo>
                  <a:lnTo>
                    <a:pt x="9868916" y="0"/>
                  </a:lnTo>
                  <a:lnTo>
                    <a:pt x="9868916" y="1762760"/>
                  </a:lnTo>
                  <a:lnTo>
                    <a:pt x="0" y="1762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6092" y="8160439"/>
            <a:ext cx="6720326" cy="1404423"/>
            <a:chOff x="0" y="0"/>
            <a:chExt cx="8960434" cy="1872564"/>
          </a:xfrm>
        </p:grpSpPr>
        <p:sp>
          <p:nvSpPr>
            <p:cNvPr name="Freeform 11" id="11" descr="Texto  O conteúdo gerado por IA pode estar incorreto."/>
            <p:cNvSpPr/>
            <p:nvPr/>
          </p:nvSpPr>
          <p:spPr>
            <a:xfrm flipH="false" flipV="false" rot="0">
              <a:off x="0" y="0"/>
              <a:ext cx="8960485" cy="1872615"/>
            </a:xfrm>
            <a:custGeom>
              <a:avLst/>
              <a:gdLst/>
              <a:ahLst/>
              <a:cxnLst/>
              <a:rect r="r" b="b" t="t" l="l"/>
              <a:pathLst>
                <a:path h="1872615" w="8960485">
                  <a:moveTo>
                    <a:pt x="0" y="0"/>
                  </a:moveTo>
                  <a:lnTo>
                    <a:pt x="8960485" y="0"/>
                  </a:lnTo>
                  <a:lnTo>
                    <a:pt x="8960485" y="1872615"/>
                  </a:lnTo>
                  <a:lnTo>
                    <a:pt x="0" y="1872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844745" y="6745024"/>
            <a:ext cx="7655995" cy="1054341"/>
            <a:chOff x="0" y="0"/>
            <a:chExt cx="10207993" cy="1405788"/>
          </a:xfrm>
        </p:grpSpPr>
        <p:sp>
          <p:nvSpPr>
            <p:cNvPr name="Freeform 13" id="13" descr="Uma imagem contendo Gráfico  O conteúdo gerado por IA pode estar incorreto."/>
            <p:cNvSpPr/>
            <p:nvPr/>
          </p:nvSpPr>
          <p:spPr>
            <a:xfrm flipH="false" flipV="false" rot="0">
              <a:off x="0" y="0"/>
              <a:ext cx="10208006" cy="1405763"/>
            </a:xfrm>
            <a:custGeom>
              <a:avLst/>
              <a:gdLst/>
              <a:ahLst/>
              <a:cxnLst/>
              <a:rect r="r" b="b" t="t" l="l"/>
              <a:pathLst>
                <a:path h="1405763" w="10208006">
                  <a:moveTo>
                    <a:pt x="0" y="0"/>
                  </a:moveTo>
                  <a:lnTo>
                    <a:pt x="10208006" y="0"/>
                  </a:lnTo>
                  <a:lnTo>
                    <a:pt x="10208006" y="1405763"/>
                  </a:lnTo>
                  <a:lnTo>
                    <a:pt x="0" y="1405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"/>
              </a:stretch>
            </a:blipFill>
          </p:spPr>
        </p:sp>
      </p:grpSp>
      <p:sp>
        <p:nvSpPr>
          <p:cNvPr name="Freeform 14" id="14" descr="Texto  O conteúdo gerado por IA pode estar incorreto."/>
          <p:cNvSpPr/>
          <p:nvPr/>
        </p:nvSpPr>
        <p:spPr>
          <a:xfrm flipH="false" flipV="false" rot="0">
            <a:off x="10288486" y="3934492"/>
            <a:ext cx="7999514" cy="2250531"/>
          </a:xfrm>
          <a:custGeom>
            <a:avLst/>
            <a:gdLst/>
            <a:ahLst/>
            <a:cxnLst/>
            <a:rect r="r" b="b" t="t" l="l"/>
            <a:pathLst>
              <a:path h="2250531" w="7999514">
                <a:moveTo>
                  <a:pt x="0" y="0"/>
                </a:moveTo>
                <a:lnTo>
                  <a:pt x="7999514" y="0"/>
                </a:lnTo>
                <a:lnTo>
                  <a:pt x="7999514" y="2250531"/>
                </a:lnTo>
                <a:lnTo>
                  <a:pt x="0" y="22505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60510" y="274320"/>
            <a:ext cx="3566970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Regras Úteis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7532" y="1746294"/>
            <a:ext cx="7695028" cy="242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Check – Regra aplicada a colunas para garantir a integridade dos dados, rejeitando valores que não cumprem condições específicas.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94815" y="1746294"/>
            <a:ext cx="7695028" cy="186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UNIQUE –  Regra que impede valores duplicados em uma ou mais colunas.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967134" y="4799467"/>
            <a:ext cx="10872473" cy="5144633"/>
            <a:chOff x="0" y="0"/>
            <a:chExt cx="14496631" cy="6859511"/>
          </a:xfrm>
        </p:grpSpPr>
        <p:sp>
          <p:nvSpPr>
            <p:cNvPr name="Freeform 8" id="8" descr="Texto  O conteúdo gerado por IA pode estar incorreto."/>
            <p:cNvSpPr/>
            <p:nvPr/>
          </p:nvSpPr>
          <p:spPr>
            <a:xfrm flipH="false" flipV="false" rot="0">
              <a:off x="0" y="0"/>
              <a:ext cx="14496669" cy="6859524"/>
            </a:xfrm>
            <a:custGeom>
              <a:avLst/>
              <a:gdLst/>
              <a:ahLst/>
              <a:cxnLst/>
              <a:rect r="r" b="b" t="t" l="l"/>
              <a:pathLst>
                <a:path h="6859524" w="14496669">
                  <a:moveTo>
                    <a:pt x="0" y="0"/>
                  </a:moveTo>
                  <a:lnTo>
                    <a:pt x="14496669" y="0"/>
                  </a:lnTo>
                  <a:lnTo>
                    <a:pt x="14496669" y="6859524"/>
                  </a:lnTo>
                  <a:lnTo>
                    <a:pt x="0" y="6859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99142" y="1767249"/>
            <a:ext cx="1437542" cy="764934"/>
            <a:chOff x="0" y="0"/>
            <a:chExt cx="1916722" cy="10199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6684" cy="1019810"/>
            </a:xfrm>
            <a:custGeom>
              <a:avLst/>
              <a:gdLst/>
              <a:ahLst/>
              <a:cxnLst/>
              <a:rect r="r" b="b" t="t" l="l"/>
              <a:pathLst>
                <a:path h="1019810" w="1916684">
                  <a:moveTo>
                    <a:pt x="0" y="509905"/>
                  </a:moveTo>
                  <a:cubicBezTo>
                    <a:pt x="0" y="228346"/>
                    <a:pt x="429133" y="0"/>
                    <a:pt x="958342" y="0"/>
                  </a:cubicBezTo>
                  <a:cubicBezTo>
                    <a:pt x="1487551" y="0"/>
                    <a:pt x="1916684" y="228346"/>
                    <a:pt x="1916684" y="509905"/>
                  </a:cubicBezTo>
                  <a:cubicBezTo>
                    <a:pt x="1916684" y="791464"/>
                    <a:pt x="1487551" y="1019810"/>
                    <a:pt x="958342" y="1019810"/>
                  </a:cubicBezTo>
                  <a:cubicBezTo>
                    <a:pt x="429133" y="1019810"/>
                    <a:pt x="0" y="791591"/>
                    <a:pt x="0" y="509905"/>
                  </a:cubicBezTo>
                  <a:close/>
                </a:path>
              </a:pathLst>
            </a:custGeom>
            <a:solidFill>
              <a:srgbClr val="5B9BD5">
                <a:alpha val="2470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76891" y="7701143"/>
            <a:ext cx="1710109" cy="764934"/>
            <a:chOff x="0" y="0"/>
            <a:chExt cx="2280145" cy="10199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0158" cy="1019810"/>
            </a:xfrm>
            <a:custGeom>
              <a:avLst/>
              <a:gdLst/>
              <a:ahLst/>
              <a:cxnLst/>
              <a:rect r="r" b="b" t="t" l="l"/>
              <a:pathLst>
                <a:path h="1019810" w="2280158">
                  <a:moveTo>
                    <a:pt x="0" y="509905"/>
                  </a:moveTo>
                  <a:cubicBezTo>
                    <a:pt x="0" y="228346"/>
                    <a:pt x="510413" y="0"/>
                    <a:pt x="1140079" y="0"/>
                  </a:cubicBezTo>
                  <a:cubicBezTo>
                    <a:pt x="1769745" y="0"/>
                    <a:pt x="2280158" y="228346"/>
                    <a:pt x="2280158" y="509905"/>
                  </a:cubicBezTo>
                  <a:cubicBezTo>
                    <a:pt x="2280158" y="791464"/>
                    <a:pt x="1769745" y="1019810"/>
                    <a:pt x="1140079" y="1019810"/>
                  </a:cubicBezTo>
                  <a:cubicBezTo>
                    <a:pt x="510413" y="1019810"/>
                    <a:pt x="0" y="791591"/>
                    <a:pt x="0" y="509905"/>
                  </a:cubicBezTo>
                  <a:close/>
                </a:path>
              </a:pathLst>
            </a:custGeom>
            <a:solidFill>
              <a:srgbClr val="5B9BD5">
                <a:alpha val="24706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68299" y="1859575"/>
            <a:ext cx="1899142" cy="592207"/>
            <a:chOff x="0" y="0"/>
            <a:chExt cx="2532190" cy="7896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2126" cy="789559"/>
            </a:xfrm>
            <a:custGeom>
              <a:avLst/>
              <a:gdLst/>
              <a:ahLst/>
              <a:cxnLst/>
              <a:rect r="r" b="b" t="t" l="l"/>
              <a:pathLst>
                <a:path h="789559" w="2532126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2400554" y="0"/>
                  </a:lnTo>
                  <a:cubicBezTo>
                    <a:pt x="2473198" y="0"/>
                    <a:pt x="2532126" y="58928"/>
                    <a:pt x="2532126" y="131572"/>
                  </a:cubicBezTo>
                  <a:lnTo>
                    <a:pt x="2532126" y="657987"/>
                  </a:lnTo>
                  <a:cubicBezTo>
                    <a:pt x="2532126" y="730631"/>
                    <a:pt x="2473198" y="789559"/>
                    <a:pt x="2400554" y="789559"/>
                  </a:cubicBezTo>
                  <a:lnTo>
                    <a:pt x="131572" y="789559"/>
                  </a:lnTo>
                  <a:cubicBezTo>
                    <a:pt x="58928" y="789559"/>
                    <a:pt x="0" y="730631"/>
                    <a:pt x="0" y="657987"/>
                  </a:cubicBezTo>
                  <a:close/>
                </a:path>
              </a:pathLst>
            </a:custGeom>
            <a:solidFill>
              <a:srgbClr val="70AD47">
                <a:alpha val="24706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164033" y="7075675"/>
            <a:ext cx="1806816" cy="592207"/>
            <a:chOff x="0" y="0"/>
            <a:chExt cx="2409088" cy="7896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09063" cy="789559"/>
            </a:xfrm>
            <a:custGeom>
              <a:avLst/>
              <a:gdLst/>
              <a:ahLst/>
              <a:cxnLst/>
              <a:rect r="r" b="b" t="t" l="l"/>
              <a:pathLst>
                <a:path h="789559" w="2409063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2277491" y="0"/>
                  </a:lnTo>
                  <a:cubicBezTo>
                    <a:pt x="2350135" y="0"/>
                    <a:pt x="2409063" y="58928"/>
                    <a:pt x="2409063" y="131572"/>
                  </a:cubicBezTo>
                  <a:lnTo>
                    <a:pt x="2409063" y="657987"/>
                  </a:lnTo>
                  <a:cubicBezTo>
                    <a:pt x="2409063" y="730631"/>
                    <a:pt x="2350135" y="789559"/>
                    <a:pt x="2277491" y="789559"/>
                  </a:cubicBezTo>
                  <a:lnTo>
                    <a:pt x="131572" y="789559"/>
                  </a:lnTo>
                  <a:cubicBezTo>
                    <a:pt x="58928" y="789559"/>
                    <a:pt x="0" y="730631"/>
                    <a:pt x="0" y="657987"/>
                  </a:cubicBezTo>
                  <a:close/>
                </a:path>
              </a:pathLst>
            </a:custGeom>
            <a:solidFill>
              <a:srgbClr val="70AD47">
                <a:alpha val="24706"/>
              </a:srgbClr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60510" y="274320"/>
            <a:ext cx="3566970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Regras Úteis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7532" y="1746294"/>
            <a:ext cx="7695028" cy="131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Default – Define um valor padrão quando nenhum valor é informado.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94815" y="1746294"/>
            <a:ext cx="7695028" cy="131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NOT NULL –  Impede valores nulos para atributos da tabela.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400957" y="4319340"/>
            <a:ext cx="13486086" cy="4905813"/>
            <a:chOff x="0" y="0"/>
            <a:chExt cx="17981447" cy="6541084"/>
          </a:xfrm>
        </p:grpSpPr>
        <p:sp>
          <p:nvSpPr>
            <p:cNvPr name="Freeform 8" id="8" descr="Texto  O conteúdo gerado por IA pode estar incorreto."/>
            <p:cNvSpPr/>
            <p:nvPr/>
          </p:nvSpPr>
          <p:spPr>
            <a:xfrm flipH="false" flipV="false" rot="0">
              <a:off x="0" y="0"/>
              <a:ext cx="17981422" cy="6541135"/>
            </a:xfrm>
            <a:custGeom>
              <a:avLst/>
              <a:gdLst/>
              <a:ahLst/>
              <a:cxnLst/>
              <a:rect r="r" b="b" t="t" l="l"/>
              <a:pathLst>
                <a:path h="6541135" w="17981422">
                  <a:moveTo>
                    <a:pt x="0" y="0"/>
                  </a:moveTo>
                  <a:lnTo>
                    <a:pt x="17981422" y="0"/>
                  </a:lnTo>
                  <a:lnTo>
                    <a:pt x="17981422" y="6541135"/>
                  </a:lnTo>
                  <a:lnTo>
                    <a:pt x="0" y="6541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155117" y="1872758"/>
            <a:ext cx="2347551" cy="652891"/>
            <a:chOff x="0" y="0"/>
            <a:chExt cx="3130067" cy="8705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30042" cy="870458"/>
            </a:xfrm>
            <a:custGeom>
              <a:avLst/>
              <a:gdLst/>
              <a:ahLst/>
              <a:cxnLst/>
              <a:rect r="r" b="b" t="t" l="l"/>
              <a:pathLst>
                <a:path h="870458" w="3130042">
                  <a:moveTo>
                    <a:pt x="0" y="145034"/>
                  </a:moveTo>
                  <a:cubicBezTo>
                    <a:pt x="0" y="64897"/>
                    <a:pt x="64897" y="0"/>
                    <a:pt x="145034" y="0"/>
                  </a:cubicBezTo>
                  <a:lnTo>
                    <a:pt x="2985008" y="0"/>
                  </a:lnTo>
                  <a:cubicBezTo>
                    <a:pt x="3065145" y="0"/>
                    <a:pt x="3130042" y="64897"/>
                    <a:pt x="3130042" y="145034"/>
                  </a:cubicBezTo>
                  <a:lnTo>
                    <a:pt x="3130042" y="725424"/>
                  </a:lnTo>
                  <a:cubicBezTo>
                    <a:pt x="3130042" y="805561"/>
                    <a:pt x="3065145" y="870458"/>
                    <a:pt x="2985008" y="870458"/>
                  </a:cubicBezTo>
                  <a:lnTo>
                    <a:pt x="145034" y="870458"/>
                  </a:lnTo>
                  <a:cubicBezTo>
                    <a:pt x="64897" y="870458"/>
                    <a:pt x="0" y="805561"/>
                    <a:pt x="0" y="725424"/>
                  </a:cubicBezTo>
                  <a:close/>
                </a:path>
              </a:pathLst>
            </a:custGeom>
            <a:solidFill>
              <a:srgbClr val="FFC000">
                <a:alpha val="2470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90083" y="5730392"/>
            <a:ext cx="2255225" cy="547316"/>
            <a:chOff x="0" y="0"/>
            <a:chExt cx="3006966" cy="7297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06979" cy="729742"/>
            </a:xfrm>
            <a:custGeom>
              <a:avLst/>
              <a:gdLst/>
              <a:ahLst/>
              <a:cxnLst/>
              <a:rect r="r" b="b" t="t" l="l"/>
              <a:pathLst>
                <a:path h="729742" w="3006979">
                  <a:moveTo>
                    <a:pt x="0" y="121666"/>
                  </a:moveTo>
                  <a:cubicBezTo>
                    <a:pt x="0" y="54483"/>
                    <a:pt x="54483" y="0"/>
                    <a:pt x="121666" y="0"/>
                  </a:cubicBezTo>
                  <a:lnTo>
                    <a:pt x="2885313" y="0"/>
                  </a:lnTo>
                  <a:cubicBezTo>
                    <a:pt x="2952496" y="0"/>
                    <a:pt x="3006979" y="54483"/>
                    <a:pt x="3006979" y="121666"/>
                  </a:cubicBezTo>
                  <a:lnTo>
                    <a:pt x="3006979" y="608076"/>
                  </a:lnTo>
                  <a:cubicBezTo>
                    <a:pt x="3006979" y="675259"/>
                    <a:pt x="2952496" y="729742"/>
                    <a:pt x="2885313" y="729742"/>
                  </a:cubicBezTo>
                  <a:lnTo>
                    <a:pt x="121666" y="729742"/>
                  </a:lnTo>
                  <a:cubicBezTo>
                    <a:pt x="54483" y="729742"/>
                    <a:pt x="0" y="675259"/>
                    <a:pt x="0" y="608076"/>
                  </a:cubicBezTo>
                  <a:close/>
                </a:path>
              </a:pathLst>
            </a:custGeom>
            <a:solidFill>
              <a:srgbClr val="FFC000">
                <a:alpha val="24706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40875" y="1836534"/>
            <a:ext cx="1938699" cy="652891"/>
            <a:chOff x="0" y="0"/>
            <a:chExt cx="2584933" cy="8705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84958" cy="870458"/>
            </a:xfrm>
            <a:custGeom>
              <a:avLst/>
              <a:gdLst/>
              <a:ahLst/>
              <a:cxnLst/>
              <a:rect r="r" b="b" t="t" l="l"/>
              <a:pathLst>
                <a:path h="870458" w="2584958">
                  <a:moveTo>
                    <a:pt x="0" y="435229"/>
                  </a:moveTo>
                  <a:cubicBezTo>
                    <a:pt x="0" y="194818"/>
                    <a:pt x="578612" y="0"/>
                    <a:pt x="1292479" y="0"/>
                  </a:cubicBezTo>
                  <a:cubicBezTo>
                    <a:pt x="2006346" y="0"/>
                    <a:pt x="2584958" y="194818"/>
                    <a:pt x="2584958" y="435229"/>
                  </a:cubicBezTo>
                  <a:cubicBezTo>
                    <a:pt x="2584958" y="675640"/>
                    <a:pt x="2006219" y="870458"/>
                    <a:pt x="1292479" y="870458"/>
                  </a:cubicBezTo>
                  <a:cubicBezTo>
                    <a:pt x="578739" y="870458"/>
                    <a:pt x="0" y="675640"/>
                    <a:pt x="0" y="435229"/>
                  </a:cubicBezTo>
                  <a:close/>
                </a:path>
              </a:pathLst>
            </a:custGeom>
            <a:solidFill>
              <a:srgbClr val="A5A5A5">
                <a:alpha val="24706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425109" y="6406467"/>
            <a:ext cx="2255225" cy="652891"/>
            <a:chOff x="0" y="0"/>
            <a:chExt cx="3006966" cy="8705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06979" cy="870458"/>
            </a:xfrm>
            <a:custGeom>
              <a:avLst/>
              <a:gdLst/>
              <a:ahLst/>
              <a:cxnLst/>
              <a:rect r="r" b="b" t="t" l="l"/>
              <a:pathLst>
                <a:path h="870458" w="3006979">
                  <a:moveTo>
                    <a:pt x="0" y="435229"/>
                  </a:moveTo>
                  <a:cubicBezTo>
                    <a:pt x="0" y="194818"/>
                    <a:pt x="673100" y="0"/>
                    <a:pt x="1503426" y="0"/>
                  </a:cubicBezTo>
                  <a:cubicBezTo>
                    <a:pt x="2333752" y="0"/>
                    <a:pt x="3006979" y="194818"/>
                    <a:pt x="3006979" y="435229"/>
                  </a:cubicBezTo>
                  <a:cubicBezTo>
                    <a:pt x="3006979" y="675640"/>
                    <a:pt x="2333879" y="870458"/>
                    <a:pt x="1503553" y="870458"/>
                  </a:cubicBezTo>
                  <a:cubicBezTo>
                    <a:pt x="673227" y="870458"/>
                    <a:pt x="0" y="675640"/>
                    <a:pt x="0" y="435229"/>
                  </a:cubicBezTo>
                  <a:close/>
                </a:path>
              </a:pathLst>
            </a:custGeom>
            <a:solidFill>
              <a:srgbClr val="A5A5A5">
                <a:alpha val="24706"/>
              </a:srgbClr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60510" y="274320"/>
            <a:ext cx="3566970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Regras Úteis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7532" y="1746294"/>
            <a:ext cx="9009478" cy="76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INDEX – Melhora desempenho de consultas.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998885" y="8081935"/>
            <a:ext cx="6069397" cy="679190"/>
            <a:chOff x="0" y="0"/>
            <a:chExt cx="8092529" cy="9055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92567" cy="905637"/>
            </a:xfrm>
            <a:custGeom>
              <a:avLst/>
              <a:gdLst/>
              <a:ahLst/>
              <a:cxnLst/>
              <a:rect r="r" b="b" t="t" l="l"/>
              <a:pathLst>
                <a:path h="905637" w="8092567">
                  <a:moveTo>
                    <a:pt x="0" y="0"/>
                  </a:moveTo>
                  <a:lnTo>
                    <a:pt x="8092567" y="0"/>
                  </a:lnTo>
                  <a:lnTo>
                    <a:pt x="8092567" y="905637"/>
                  </a:lnTo>
                  <a:lnTo>
                    <a:pt x="0" y="905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033049" y="6593672"/>
            <a:ext cx="2001069" cy="7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</a:t>
            </a:r>
          </a:p>
        </p:txBody>
      </p:sp>
      <p:sp>
        <p:nvSpPr>
          <p:cNvPr name="Freeform 9" id="9" descr="Interface gráfica do usuário, Texto, Aplicativo  O conteúdo gerado por IA pode estar incorreto."/>
          <p:cNvSpPr/>
          <p:nvPr/>
        </p:nvSpPr>
        <p:spPr>
          <a:xfrm flipH="false" flipV="false" rot="0">
            <a:off x="2152522" y="2729179"/>
            <a:ext cx="9751647" cy="6529121"/>
          </a:xfrm>
          <a:custGeom>
            <a:avLst/>
            <a:gdLst/>
            <a:ahLst/>
            <a:cxnLst/>
            <a:rect r="r" b="b" t="t" l="l"/>
            <a:pathLst>
              <a:path h="6529121" w="9751647">
                <a:moveTo>
                  <a:pt x="0" y="0"/>
                </a:moveTo>
                <a:lnTo>
                  <a:pt x="9751648" y="0"/>
                </a:lnTo>
                <a:lnTo>
                  <a:pt x="9751648" y="6529121"/>
                </a:lnTo>
                <a:lnTo>
                  <a:pt x="0" y="6529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360510" y="274320"/>
            <a:ext cx="3566970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Tipo Útil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7532" y="1746294"/>
            <a:ext cx="15419070" cy="1314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ENUM – Tipo de dado que </a:t>
            </a:r>
            <a:r>
              <a:rPr lang="en-US" b="true" sz="3600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restringe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uma coluna a um conjunto predefinido de valores.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5312" y="4028618"/>
            <a:ext cx="16497376" cy="4108542"/>
            <a:chOff x="0" y="0"/>
            <a:chExt cx="21996502" cy="5478056"/>
          </a:xfrm>
        </p:grpSpPr>
        <p:sp>
          <p:nvSpPr>
            <p:cNvPr name="Freeform 7" id="7" descr="Uma imagem contendo Texto  O conteúdo gerado por IA pode estar incorreto."/>
            <p:cNvSpPr/>
            <p:nvPr/>
          </p:nvSpPr>
          <p:spPr>
            <a:xfrm flipH="false" flipV="false" rot="0">
              <a:off x="0" y="0"/>
              <a:ext cx="21996527" cy="5478018"/>
            </a:xfrm>
            <a:custGeom>
              <a:avLst/>
              <a:gdLst/>
              <a:ahLst/>
              <a:cxnLst/>
              <a:rect r="r" b="b" t="t" l="l"/>
              <a:pathLst>
                <a:path h="5478018" w="21996527">
                  <a:moveTo>
                    <a:pt x="0" y="0"/>
                  </a:moveTo>
                  <a:lnTo>
                    <a:pt x="21996527" y="0"/>
                  </a:lnTo>
                  <a:lnTo>
                    <a:pt x="21996527" y="5478018"/>
                  </a:lnTo>
                  <a:lnTo>
                    <a:pt x="0" y="5478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71546" y="227809"/>
            <a:ext cx="254489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Exercício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90625"/>
            <a:ext cx="16230600" cy="783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Após uma recente brecha de segurança, a Agência Central de Inteligência decidiu reformular seus sistemas de informação. Você foi encarregado de criar e ajustar a estrutura do banco de dados que armazenará os registros dos agentes de campo ativados.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Utilizando os conceitos abordados nesta aula, faça o que se pede: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Banco de Dados: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Crie um banco de dados chamado agencia_db verificando sua existência. Caso exista, exclua-o antes de criá-lo;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Execute o comando para selecionar e utilizar o banco de dados criado;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Tabela: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Crie uma nova tabela chamada agente, que deve conter:</a:t>
            </a:r>
          </a:p>
          <a:p>
            <a:pPr algn="l" marL="1295400" indent="-431800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Identificador único obrigatório e auto-incremental;</a:t>
            </a:r>
          </a:p>
          <a:p>
            <a:pPr algn="l" marL="1295400" indent="-431800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codinome: Nome de código do agente (limite inicial de 20 caracteres);</a:t>
            </a:r>
          </a:p>
          <a:p>
            <a:pPr algn="l" marL="1295400" indent="-431800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nome_real: Nome co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mpleto do agente (limite de 100 caracteres);</a:t>
            </a:r>
          </a:p>
          <a:p>
            <a:pPr algn="l" marL="1295400" indent="-431800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especialidade: Área de atuação (limite de 40 caracteres);</a:t>
            </a:r>
          </a:p>
          <a:p>
            <a:pPr algn="l" marL="1295400" indent="-431800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pais_alocacao: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País onde o agente está atuando (limite de 50 caracteres);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71546" y="227809"/>
            <a:ext cx="2544899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Exercício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53487"/>
            <a:ext cx="16230600" cy="692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400" indent="-431800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ano_recrutamento: Ano de entrada na agência (campo obrigatório);</a:t>
            </a:r>
          </a:p>
          <a:p>
            <a:pPr algn="l" marL="1295400" indent="-431800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data_ultima_missao: Data da última operação realizada;</a:t>
            </a:r>
          </a:p>
          <a:p>
            <a:pPr algn="l" marL="1295400" indent="-431800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orcamento_missao: Valor alocado para operações atuais (tipo numérico com casas decimais);</a:t>
            </a:r>
          </a:p>
          <a:p>
            <a:pPr algn="l" marL="1295400" indent="-431800" lvl="2">
              <a:lnSpc>
                <a:spcPts val="36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em_servico_ativo: Indicador se o agente está em campo ou suspenso (tipo booleano, padrão TRUE);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Manutenção de Estrutura: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Inclua uma nova coluna na tabela para armazenar o nível de acesso do agente;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Inclua outra coluna chamada contato_emergencia (texto de até 80 caracteres);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equ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ipe percebeu que 20 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racteres para o codinome são insuficientes para codinomes compostos. Altere a estrutura da tabela para aumentar esse limite para 60 caracteres;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campo pais_alocacao mudou de padrão operacional. Renomeie a coluna (ou altere seu tipo) para aceitar até 80 caracteres;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 questões de privacidade, a coluna nome_real precisa ser removida da tabela.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77890" y="3475225"/>
            <a:ext cx="6332220" cy="300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AULA CONCLUÍDA!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DAHSL71o15Y</dc:identifier>
  <dcterms:modified xsi:type="dcterms:W3CDTF">2011-08-01T06:04:30Z</dcterms:modified>
  <cp:revision>1</cp:revision>
  <dc:title>ComandosDDL.pptx</dc:title>
</cp:coreProperties>
</file>