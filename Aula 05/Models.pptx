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Calibri (MS)" charset="1" panose="020F0502020204030204"/>
      <p:regular r:id="rId23"/>
    </p:embeddedFont>
    <p:embeddedFont>
      <p:font typeface="Arial Bold" charset="1" panose="020B0704020202020204"/>
      <p:regular r:id="rId24"/>
    </p:embeddedFont>
    <p:embeddedFont>
      <p:font typeface="Arial" charset="1" panose="020B0604020202020204"/>
      <p:regular r:id="rId25"/>
    </p:embeddedFont>
    <p:embeddedFont>
      <p:font typeface="Calibri (MS) Italics" charset="1" panose="020F05020202040A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7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7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7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49698" y="131445"/>
            <a:ext cx="5725554" cy="8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9DC3E6"/>
                </a:solidFill>
                <a:latin typeface="Calibri (MS)"/>
                <a:ea typeface="Calibri (MS)"/>
                <a:cs typeface="Calibri (MS)"/>
                <a:sym typeface="Calibri (MS)"/>
              </a:rPr>
              <a:t>Banco de Dados – C07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9698" y="882510"/>
            <a:ext cx="3602212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9DC3E6"/>
                </a:solidFill>
                <a:latin typeface="Calibri (MS)"/>
                <a:ea typeface="Calibri (MS)"/>
                <a:cs typeface="Calibri (MS)"/>
                <a:sym typeface="Calibri (MS)"/>
              </a:rPr>
              <a:t>Felipe Silva Loschi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9698" y="7240753"/>
            <a:ext cx="6727869" cy="2017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</a:p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9DC3E6"/>
                </a:solidFill>
                <a:latin typeface="Calibri (MS)"/>
                <a:ea typeface="Calibri (MS)"/>
                <a:cs typeface="Calibri (MS)"/>
                <a:sym typeface="Calibri (MS)"/>
              </a:rPr>
              <a:t>Models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9698" y="9201150"/>
            <a:ext cx="539497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9DC3E6"/>
                </a:solidFill>
                <a:latin typeface="Calibri (MS)"/>
                <a:ea typeface="Calibri (MS)"/>
                <a:cs typeface="Calibri (MS)"/>
                <a:sym typeface="Calibri (MS)"/>
              </a:rPr>
              <a:t>Material de: </a:t>
            </a:r>
            <a:r>
              <a:rPr lang="en-US" sz="3200">
                <a:solidFill>
                  <a:srgbClr val="9DC3E6"/>
                </a:solidFill>
                <a:latin typeface="Calibri (MS)"/>
                <a:ea typeface="Calibri (MS)"/>
                <a:cs typeface="Calibri (MS)"/>
                <a:sym typeface="Calibri (MS)"/>
              </a:rPr>
              <a:t>Felipe Tagawa Reis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510099" y="175060"/>
            <a:ext cx="4582277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Criando Models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570300" y="1679372"/>
            <a:ext cx="17147391" cy="7244772"/>
            <a:chOff x="0" y="0"/>
            <a:chExt cx="22863188" cy="96596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863175" cy="9659747"/>
            </a:xfrm>
            <a:custGeom>
              <a:avLst/>
              <a:gdLst/>
              <a:ahLst/>
              <a:cxnLst/>
              <a:rect r="r" b="b" t="t" l="l"/>
              <a:pathLst>
                <a:path h="9659747" w="22863175">
                  <a:moveTo>
                    <a:pt x="0" y="0"/>
                  </a:moveTo>
                  <a:lnTo>
                    <a:pt x="22863175" y="0"/>
                  </a:lnTo>
                  <a:lnTo>
                    <a:pt x="22863175" y="9659747"/>
                  </a:lnTo>
                  <a:lnTo>
                    <a:pt x="0" y="96597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5907634" y="5117868"/>
            <a:ext cx="726948" cy="1467612"/>
            <a:chOff x="0" y="0"/>
            <a:chExt cx="969264" cy="19568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69264" cy="1956816"/>
            </a:xfrm>
            <a:custGeom>
              <a:avLst/>
              <a:gdLst/>
              <a:ahLst/>
              <a:cxnLst/>
              <a:rect r="r" b="b" t="t" l="l"/>
              <a:pathLst>
                <a:path h="1956816" w="969264">
                  <a:moveTo>
                    <a:pt x="0" y="1472184"/>
                  </a:moveTo>
                  <a:lnTo>
                    <a:pt x="242316" y="1472184"/>
                  </a:lnTo>
                  <a:lnTo>
                    <a:pt x="242316" y="0"/>
                  </a:lnTo>
                  <a:lnTo>
                    <a:pt x="726948" y="0"/>
                  </a:lnTo>
                  <a:lnTo>
                    <a:pt x="726948" y="1472184"/>
                  </a:lnTo>
                  <a:lnTo>
                    <a:pt x="969264" y="1472184"/>
                  </a:lnTo>
                  <a:lnTo>
                    <a:pt x="484632" y="1956816"/>
                  </a:lnTo>
                  <a:close/>
                </a:path>
              </a:pathLst>
            </a:custGeom>
            <a:solidFill>
              <a:srgbClr val="70AD47">
                <a:alpha val="24706"/>
              </a:srgbClr>
            </a:solid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510099" y="175060"/>
            <a:ext cx="4582277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Criando Models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3499342" y="4737402"/>
            <a:ext cx="11040466" cy="3980164"/>
            <a:chOff x="0" y="0"/>
            <a:chExt cx="14720621" cy="53068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720570" cy="5306949"/>
            </a:xfrm>
            <a:custGeom>
              <a:avLst/>
              <a:gdLst/>
              <a:ahLst/>
              <a:cxnLst/>
              <a:rect r="r" b="b" t="t" l="l"/>
              <a:pathLst>
                <a:path h="5306949" w="14720570">
                  <a:moveTo>
                    <a:pt x="0" y="0"/>
                  </a:moveTo>
                  <a:lnTo>
                    <a:pt x="14720570" y="0"/>
                  </a:lnTo>
                  <a:lnTo>
                    <a:pt x="14720570" y="5306949"/>
                  </a:lnTo>
                  <a:lnTo>
                    <a:pt x="0" y="53069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4572648" y="1936280"/>
            <a:ext cx="9142695" cy="779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Basta clicar duas vezes em “Add Diagram”</a:t>
            </a:r>
          </a:p>
        </p:txBody>
      </p:sp>
      <p:grpSp>
        <p:nvGrpSpPr>
          <p:cNvPr name="Group 8" id="8"/>
          <p:cNvGrpSpPr/>
          <p:nvPr/>
        </p:nvGrpSpPr>
        <p:grpSpPr>
          <a:xfrm rot="5400000">
            <a:off x="11554149" y="7011172"/>
            <a:ext cx="726948" cy="1467612"/>
            <a:chOff x="0" y="0"/>
            <a:chExt cx="969264" cy="19568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9264" cy="1956816"/>
            </a:xfrm>
            <a:custGeom>
              <a:avLst/>
              <a:gdLst/>
              <a:ahLst/>
              <a:cxnLst/>
              <a:rect r="r" b="b" t="t" l="l"/>
              <a:pathLst>
                <a:path h="1956816" w="969264">
                  <a:moveTo>
                    <a:pt x="0" y="1472184"/>
                  </a:moveTo>
                  <a:lnTo>
                    <a:pt x="242316" y="1472184"/>
                  </a:lnTo>
                  <a:lnTo>
                    <a:pt x="242316" y="0"/>
                  </a:lnTo>
                  <a:lnTo>
                    <a:pt x="726948" y="0"/>
                  </a:lnTo>
                  <a:lnTo>
                    <a:pt x="726948" y="1472184"/>
                  </a:lnTo>
                  <a:lnTo>
                    <a:pt x="969264" y="1472184"/>
                  </a:lnTo>
                  <a:lnTo>
                    <a:pt x="484632" y="1956816"/>
                  </a:lnTo>
                  <a:close/>
                </a:path>
              </a:pathLst>
            </a:custGeom>
            <a:solidFill>
              <a:srgbClr val="70AD47">
                <a:alpha val="24706"/>
              </a:srgbClr>
            </a:solid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510099" y="175060"/>
            <a:ext cx="4582277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Criando Models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99045" y="1735455"/>
            <a:ext cx="15889919" cy="7166753"/>
            <a:chOff x="0" y="0"/>
            <a:chExt cx="21186559" cy="95556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186521" cy="9555734"/>
            </a:xfrm>
            <a:custGeom>
              <a:avLst/>
              <a:gdLst/>
              <a:ahLst/>
              <a:cxnLst/>
              <a:rect r="r" b="b" t="t" l="l"/>
              <a:pathLst>
                <a:path h="9555734" w="21186521">
                  <a:moveTo>
                    <a:pt x="0" y="0"/>
                  </a:moveTo>
                  <a:lnTo>
                    <a:pt x="21186521" y="0"/>
                  </a:lnTo>
                  <a:lnTo>
                    <a:pt x="21186521" y="9555734"/>
                  </a:lnTo>
                  <a:lnTo>
                    <a:pt x="0" y="95557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572" t="0" r="-2572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510099" y="175060"/>
            <a:ext cx="4582277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Criando Models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813752" y="1577530"/>
            <a:ext cx="12660497" cy="8345062"/>
            <a:chOff x="0" y="0"/>
            <a:chExt cx="16880662" cy="111267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880712" cy="11126724"/>
            </a:xfrm>
            <a:custGeom>
              <a:avLst/>
              <a:gdLst/>
              <a:ahLst/>
              <a:cxnLst/>
              <a:rect r="r" b="b" t="t" l="l"/>
              <a:pathLst>
                <a:path h="11126724" w="16880712">
                  <a:moveTo>
                    <a:pt x="0" y="0"/>
                  </a:moveTo>
                  <a:lnTo>
                    <a:pt x="16880712" y="0"/>
                  </a:lnTo>
                  <a:lnTo>
                    <a:pt x="16880712" y="11126724"/>
                  </a:lnTo>
                  <a:lnTo>
                    <a:pt x="0" y="11126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972800" y="5460025"/>
            <a:ext cx="3758708" cy="501158"/>
            <a:chOff x="0" y="0"/>
            <a:chExt cx="5011610" cy="6682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11674" cy="668274"/>
            </a:xfrm>
            <a:custGeom>
              <a:avLst/>
              <a:gdLst/>
              <a:ahLst/>
              <a:cxnLst/>
              <a:rect r="r" b="b" t="t" l="l"/>
              <a:pathLst>
                <a:path h="668274" w="5011674">
                  <a:moveTo>
                    <a:pt x="0" y="0"/>
                  </a:moveTo>
                  <a:lnTo>
                    <a:pt x="5011674" y="0"/>
                  </a:lnTo>
                  <a:lnTo>
                    <a:pt x="5011674" y="668274"/>
                  </a:lnTo>
                  <a:lnTo>
                    <a:pt x="0" y="668274"/>
                  </a:lnTo>
                  <a:close/>
                </a:path>
              </a:pathLst>
            </a:custGeom>
            <a:solidFill>
              <a:srgbClr val="FFC000">
                <a:alpha val="24706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972800" y="7075846"/>
            <a:ext cx="3455375" cy="501158"/>
            <a:chOff x="0" y="0"/>
            <a:chExt cx="4607166" cy="6682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607179" cy="668274"/>
            </a:xfrm>
            <a:custGeom>
              <a:avLst/>
              <a:gdLst/>
              <a:ahLst/>
              <a:cxnLst/>
              <a:rect r="r" b="b" t="t" l="l"/>
              <a:pathLst>
                <a:path h="668274" w="4607179">
                  <a:moveTo>
                    <a:pt x="0" y="0"/>
                  </a:moveTo>
                  <a:lnTo>
                    <a:pt x="4607179" y="0"/>
                  </a:lnTo>
                  <a:lnTo>
                    <a:pt x="4607179" y="668274"/>
                  </a:lnTo>
                  <a:lnTo>
                    <a:pt x="0" y="668274"/>
                  </a:lnTo>
                  <a:close/>
                </a:path>
              </a:pathLst>
            </a:custGeom>
            <a:solidFill>
              <a:srgbClr val="FFC000">
                <a:alpha val="24706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972800" y="8653386"/>
            <a:ext cx="3758708" cy="501158"/>
            <a:chOff x="0" y="0"/>
            <a:chExt cx="5011610" cy="6682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11674" cy="668274"/>
            </a:xfrm>
            <a:custGeom>
              <a:avLst/>
              <a:gdLst/>
              <a:ahLst/>
              <a:cxnLst/>
              <a:rect r="r" b="b" t="t" l="l"/>
              <a:pathLst>
                <a:path h="668274" w="5011674">
                  <a:moveTo>
                    <a:pt x="0" y="0"/>
                  </a:moveTo>
                  <a:lnTo>
                    <a:pt x="5011674" y="0"/>
                  </a:lnTo>
                  <a:lnTo>
                    <a:pt x="5011674" y="668274"/>
                  </a:lnTo>
                  <a:lnTo>
                    <a:pt x="0" y="668274"/>
                  </a:lnTo>
                  <a:close/>
                </a:path>
              </a:pathLst>
            </a:custGeom>
            <a:solidFill>
              <a:srgbClr val="FFC000">
                <a:alpha val="24706"/>
              </a:srgbClr>
            </a:solid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707791" y="175060"/>
            <a:ext cx="4872418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Relacionamentos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94542" y="1456773"/>
            <a:ext cx="17698917" cy="7432805"/>
            <a:chOff x="0" y="0"/>
            <a:chExt cx="23598556" cy="9910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598553" cy="9910406"/>
            </a:xfrm>
            <a:custGeom>
              <a:avLst/>
              <a:gdLst/>
              <a:ahLst/>
              <a:cxnLst/>
              <a:rect r="r" b="b" t="t" l="l"/>
              <a:pathLst>
                <a:path h="9910406" w="23598553">
                  <a:moveTo>
                    <a:pt x="0" y="0"/>
                  </a:moveTo>
                  <a:lnTo>
                    <a:pt x="23598553" y="0"/>
                  </a:lnTo>
                  <a:lnTo>
                    <a:pt x="23598553" y="9910406"/>
                  </a:lnTo>
                  <a:lnTo>
                    <a:pt x="0" y="99104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82" t="0" r="-3882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3598556" cy="99294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Conexões lógicas entre entidades</a:t>
              </a:r>
              <a:r>
                <a:rPr lang="en-US" sz="4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que representam como os dados em diferentes tabelas estão associados uns aos outros.</a:t>
              </a:r>
            </a:p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No modelo relacional, </a:t>
              </a:r>
              <a:r>
                <a:rPr lang="en-US" b="true" sz="42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relacionamentos</a:t>
              </a:r>
              <a:r>
                <a:rPr lang="en-US" sz="4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ajudam a manter a </a:t>
              </a:r>
              <a:r>
                <a:rPr lang="en-US" b="true" sz="42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integridade referencial</a:t>
              </a:r>
              <a:r>
                <a:rPr lang="en-US" sz="4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, evitando dados duplicados e inconsistentes.</a:t>
              </a:r>
            </a:p>
            <a:p>
              <a:pPr algn="l">
                <a:lnSpc>
                  <a:spcPts val="5040"/>
                </a:lnSpc>
              </a:pPr>
            </a:p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Classificação:</a:t>
              </a:r>
            </a:p>
            <a:p>
              <a:pPr algn="l">
                <a:lnSpc>
                  <a:spcPts val="5040"/>
                </a:lnSpc>
              </a:pPr>
            </a:p>
            <a:p>
              <a:pPr algn="l" marL="760095" indent="-380048" lvl="1">
                <a:lnSpc>
                  <a:spcPts val="5040"/>
                </a:lnSpc>
                <a:buFont typeface="Arial"/>
                <a:buChar char="•"/>
              </a:pPr>
              <a:r>
                <a:rPr lang="en-US" sz="4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1:1</a:t>
              </a:r>
            </a:p>
            <a:p>
              <a:pPr algn="l" marL="760095" indent="-380048" lvl="1">
                <a:lnSpc>
                  <a:spcPts val="5040"/>
                </a:lnSpc>
                <a:buFont typeface="Arial"/>
                <a:buChar char="•"/>
              </a:pPr>
              <a:r>
                <a:rPr lang="en-US" sz="4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1:N</a:t>
              </a:r>
            </a:p>
            <a:p>
              <a:pPr algn="l" marL="760095" indent="-380048" lvl="1">
                <a:lnSpc>
                  <a:spcPts val="5040"/>
                </a:lnSpc>
                <a:buFont typeface="Arial"/>
                <a:buChar char="•"/>
              </a:pPr>
              <a:r>
                <a:rPr lang="en-US" sz="4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N:M</a:t>
              </a:r>
            </a:p>
            <a:p>
              <a:pPr algn="l" marL="760095" indent="-380048" lvl="1">
                <a:lnSpc>
                  <a:spcPts val="5040"/>
                </a:lnSpc>
              </a:pPr>
            </a:p>
            <a:p>
              <a:pPr algn="l" marL="760095" indent="-380048" lvl="1">
                <a:lnSpc>
                  <a:spcPts val="5040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312065" y="175060"/>
            <a:ext cx="5663870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Relacionamento 1:1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806246" y="4728467"/>
            <a:ext cx="3972620" cy="3917823"/>
            <a:chOff x="0" y="0"/>
            <a:chExt cx="5296827" cy="52237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96789" cy="5223764"/>
            </a:xfrm>
            <a:custGeom>
              <a:avLst/>
              <a:gdLst/>
              <a:ahLst/>
              <a:cxnLst/>
              <a:rect r="r" b="b" t="t" l="l"/>
              <a:pathLst>
                <a:path h="5223764" w="5296789">
                  <a:moveTo>
                    <a:pt x="0" y="0"/>
                  </a:moveTo>
                  <a:lnTo>
                    <a:pt x="5296789" y="0"/>
                  </a:lnTo>
                  <a:lnTo>
                    <a:pt x="5296789" y="5223764"/>
                  </a:lnTo>
                  <a:lnTo>
                    <a:pt x="0" y="5223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973210" y="4728467"/>
            <a:ext cx="4508544" cy="3917823"/>
            <a:chOff x="0" y="0"/>
            <a:chExt cx="6011393" cy="52237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011418" cy="5223764"/>
            </a:xfrm>
            <a:custGeom>
              <a:avLst/>
              <a:gdLst/>
              <a:ahLst/>
              <a:cxnLst/>
              <a:rect r="r" b="b" t="t" l="l"/>
              <a:pathLst>
                <a:path h="5223764" w="6011418">
                  <a:moveTo>
                    <a:pt x="0" y="0"/>
                  </a:moveTo>
                  <a:lnTo>
                    <a:pt x="6011418" y="0"/>
                  </a:lnTo>
                  <a:lnTo>
                    <a:pt x="6011418" y="5223764"/>
                  </a:lnTo>
                  <a:lnTo>
                    <a:pt x="0" y="5223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358" t="0" r="-3357" b="0"/>
              </a:stretch>
            </a:blipFill>
          </p:spPr>
        </p:sp>
      </p:grpSp>
      <p:sp>
        <p:nvSpPr>
          <p:cNvPr name="AutoShape 9" id="9"/>
          <p:cNvSpPr/>
          <p:nvPr/>
        </p:nvSpPr>
        <p:spPr>
          <a:xfrm rot="11340">
            <a:off x="7407145" y="6682616"/>
            <a:ext cx="2884627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triangle" len="med" w="lg"/>
            <a:tailEnd type="triangle" len="med" w="lg"/>
          </a:ln>
        </p:spPr>
      </p:sp>
      <p:sp>
        <p:nvSpPr>
          <p:cNvPr name="TextBox 10" id="10"/>
          <p:cNvSpPr txBox="true"/>
          <p:nvPr/>
        </p:nvSpPr>
        <p:spPr>
          <a:xfrm rot="0">
            <a:off x="1696783" y="1986191"/>
            <a:ext cx="14894423" cy="2329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Em questão de documentos, qual a relação de uma pessoa com um passaporte?</a:t>
            </a:r>
          </a:p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Uma pessoa tem </a:t>
            </a:r>
            <a:r>
              <a:rPr lang="en-US" sz="3600" u="sng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</a:t>
            </a: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passaporte exclusivo e </a:t>
            </a:r>
            <a:r>
              <a:rPr lang="en-US" sz="3600" u="sng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</a:t>
            </a: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passaporte pertence a uma única pessoa.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541971" y="6121956"/>
            <a:ext cx="357845" cy="51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52260" y="6772580"/>
            <a:ext cx="357845" cy="51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312065" y="175060"/>
            <a:ext cx="5663870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Relacionamento 1:1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3742668" y="2036740"/>
            <a:ext cx="10802655" cy="4023208"/>
            <a:chOff x="0" y="0"/>
            <a:chExt cx="14403540" cy="53642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403578" cy="5364226"/>
            </a:xfrm>
            <a:custGeom>
              <a:avLst/>
              <a:gdLst/>
              <a:ahLst/>
              <a:cxnLst/>
              <a:rect r="r" b="b" t="t" l="l"/>
              <a:pathLst>
                <a:path h="5364226" w="14403578">
                  <a:moveTo>
                    <a:pt x="0" y="0"/>
                  </a:moveTo>
                  <a:lnTo>
                    <a:pt x="14403578" y="0"/>
                  </a:lnTo>
                  <a:lnTo>
                    <a:pt x="14403578" y="5364226"/>
                  </a:lnTo>
                  <a:lnTo>
                    <a:pt x="0" y="53642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348740" y="7331231"/>
            <a:ext cx="15590520" cy="2329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Ao associar duas entidades(tabelas), é gerada em uma delas uma </a:t>
            </a:r>
            <a:r>
              <a:rPr lang="en-US" sz="3600" u="sng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chave estrangeira(FK) </a:t>
            </a: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que é usada pra conectá-las. Essa </a:t>
            </a:r>
            <a:r>
              <a:rPr lang="en-US" sz="3600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Foreign Key</a:t>
            </a: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pode ser colocada em qualquer um dos lados em uma relação 1:1, mas em casos em que há entidades fracas, a chave deve ser alocada no lado da mesma.</a:t>
            </a:r>
          </a:p>
        </p:txBody>
      </p:sp>
      <p:sp>
        <p:nvSpPr>
          <p:cNvPr name="AutoShape 8" id="8"/>
          <p:cNvSpPr/>
          <p:nvPr/>
        </p:nvSpPr>
        <p:spPr>
          <a:xfrm rot="23700">
            <a:off x="13670109" y="4690329"/>
            <a:ext cx="1381154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9" id="9"/>
          <p:cNvSpPr txBox="true"/>
          <p:nvPr/>
        </p:nvSpPr>
        <p:spPr>
          <a:xfrm rot="0">
            <a:off x="15403239" y="4478512"/>
            <a:ext cx="1505245" cy="823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Chave Estrangeira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127394" y="175060"/>
            <a:ext cx="6033211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Relacionamento 1:N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759535" y="3904745"/>
            <a:ext cx="4441365" cy="4319683"/>
            <a:chOff x="0" y="0"/>
            <a:chExt cx="5921820" cy="57595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21756" cy="5759577"/>
            </a:xfrm>
            <a:custGeom>
              <a:avLst/>
              <a:gdLst/>
              <a:ahLst/>
              <a:cxnLst/>
              <a:rect r="r" b="b" t="t" l="l"/>
              <a:pathLst>
                <a:path h="5759577" w="5921756">
                  <a:moveTo>
                    <a:pt x="0" y="0"/>
                  </a:moveTo>
                  <a:lnTo>
                    <a:pt x="5921756" y="0"/>
                  </a:lnTo>
                  <a:lnTo>
                    <a:pt x="5921756" y="5759577"/>
                  </a:lnTo>
                  <a:lnTo>
                    <a:pt x="0" y="57595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022320" y="3904736"/>
            <a:ext cx="4506144" cy="4319683"/>
            <a:chOff x="0" y="0"/>
            <a:chExt cx="6008192" cy="57595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008243" cy="5759577"/>
            </a:xfrm>
            <a:custGeom>
              <a:avLst/>
              <a:gdLst/>
              <a:ahLst/>
              <a:cxnLst/>
              <a:rect r="r" b="b" t="t" l="l"/>
              <a:pathLst>
                <a:path h="5759577" w="6008243">
                  <a:moveTo>
                    <a:pt x="0" y="0"/>
                  </a:moveTo>
                  <a:lnTo>
                    <a:pt x="6008243" y="0"/>
                  </a:lnTo>
                  <a:lnTo>
                    <a:pt x="6008243" y="5759577"/>
                  </a:lnTo>
                  <a:lnTo>
                    <a:pt x="0" y="57595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AutoShape 9" id="9"/>
          <p:cNvSpPr/>
          <p:nvPr/>
        </p:nvSpPr>
        <p:spPr>
          <a:xfrm rot="-12240">
            <a:off x="7710478" y="6059815"/>
            <a:ext cx="2673610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triangle" len="med" w="lg"/>
            <a:tailEnd type="triangle" len="med" w="lg"/>
          </a:ln>
        </p:spPr>
      </p:sp>
      <p:sp>
        <p:nvSpPr>
          <p:cNvPr name="TextBox 10" id="10"/>
          <p:cNvSpPr txBox="true"/>
          <p:nvPr/>
        </p:nvSpPr>
        <p:spPr>
          <a:xfrm rot="0">
            <a:off x="7806690" y="5409028"/>
            <a:ext cx="463353" cy="51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34420" y="6305798"/>
            <a:ext cx="321574" cy="51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18152" y="1653569"/>
            <a:ext cx="12651696" cy="1221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Em uma relação entre Estúdio e Jogos, </a:t>
            </a:r>
            <a:r>
              <a:rPr lang="en-US" sz="3600" u="sng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</a:t>
            </a: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Estúdio pode desenvolver </a:t>
            </a:r>
            <a:r>
              <a:rPr lang="en-US" sz="3600" u="sng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</a:t>
            </a: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jogos. Mas cada jogo está associado a um estúdio específico.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394387" y="1753848"/>
            <a:ext cx="9499216" cy="4365593"/>
            <a:chOff x="0" y="0"/>
            <a:chExt cx="12665621" cy="58207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665583" cy="5820791"/>
            </a:xfrm>
            <a:custGeom>
              <a:avLst/>
              <a:gdLst/>
              <a:ahLst/>
              <a:cxnLst/>
              <a:rect r="r" b="b" t="t" l="l"/>
              <a:pathLst>
                <a:path h="5820791" w="12665583">
                  <a:moveTo>
                    <a:pt x="0" y="0"/>
                  </a:moveTo>
                  <a:lnTo>
                    <a:pt x="12665583" y="0"/>
                  </a:lnTo>
                  <a:lnTo>
                    <a:pt x="12665583" y="5820791"/>
                  </a:lnTo>
                  <a:lnTo>
                    <a:pt x="0" y="5820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127394" y="175060"/>
            <a:ext cx="6033211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Relacionamento 1:N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84833" y="7351900"/>
            <a:ext cx="15318334" cy="1729026"/>
            <a:chOff x="0" y="0"/>
            <a:chExt cx="20424445" cy="23053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424394" cy="2305431"/>
            </a:xfrm>
            <a:custGeom>
              <a:avLst/>
              <a:gdLst/>
              <a:ahLst/>
              <a:cxnLst/>
              <a:rect r="r" b="b" t="t" l="l"/>
              <a:pathLst>
                <a:path h="2305431" w="20424394">
                  <a:moveTo>
                    <a:pt x="0" y="0"/>
                  </a:moveTo>
                  <a:lnTo>
                    <a:pt x="20424394" y="0"/>
                  </a:lnTo>
                  <a:lnTo>
                    <a:pt x="20424394" y="2305431"/>
                  </a:lnTo>
                  <a:lnTo>
                    <a:pt x="0" y="23054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2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5403239" y="4478512"/>
            <a:ext cx="1505245" cy="823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Chave Estrangeira</a:t>
            </a:r>
          </a:p>
        </p:txBody>
      </p:sp>
      <p:sp>
        <p:nvSpPr>
          <p:cNvPr name="AutoShape 10" id="10"/>
          <p:cNvSpPr/>
          <p:nvPr/>
        </p:nvSpPr>
        <p:spPr>
          <a:xfrm rot="17880">
            <a:off x="13328761" y="4756271"/>
            <a:ext cx="1829562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127394" y="175060"/>
            <a:ext cx="6033211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Relacionamento N:M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3015063" y="4307138"/>
            <a:ext cx="3984508" cy="3797322"/>
            <a:chOff x="0" y="0"/>
            <a:chExt cx="5312677" cy="50630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12664" cy="5063109"/>
            </a:xfrm>
            <a:custGeom>
              <a:avLst/>
              <a:gdLst/>
              <a:ahLst/>
              <a:cxnLst/>
              <a:rect r="r" b="b" t="t" l="l"/>
              <a:pathLst>
                <a:path h="5063109" w="5312664">
                  <a:moveTo>
                    <a:pt x="0" y="0"/>
                  </a:moveTo>
                  <a:lnTo>
                    <a:pt x="5312664" y="0"/>
                  </a:lnTo>
                  <a:lnTo>
                    <a:pt x="5312664" y="5063109"/>
                  </a:lnTo>
                  <a:lnTo>
                    <a:pt x="0" y="50631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040980" y="4307138"/>
            <a:ext cx="4231948" cy="3797322"/>
            <a:chOff x="0" y="0"/>
            <a:chExt cx="5642597" cy="506309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42610" cy="5063109"/>
            </a:xfrm>
            <a:custGeom>
              <a:avLst/>
              <a:gdLst/>
              <a:ahLst/>
              <a:cxnLst/>
              <a:rect r="r" b="b" t="t" l="l"/>
              <a:pathLst>
                <a:path h="5063109" w="5642610">
                  <a:moveTo>
                    <a:pt x="0" y="0"/>
                  </a:moveTo>
                  <a:lnTo>
                    <a:pt x="5642610" y="0"/>
                  </a:lnTo>
                  <a:lnTo>
                    <a:pt x="5642610" y="5063109"/>
                  </a:lnTo>
                  <a:lnTo>
                    <a:pt x="0" y="50631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AutoShape 9" id="9"/>
          <p:cNvSpPr/>
          <p:nvPr/>
        </p:nvSpPr>
        <p:spPr>
          <a:xfrm rot="14100">
            <a:off x="7886319" y="6272946"/>
            <a:ext cx="2317528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triangle" len="med" w="lg"/>
            <a:tailEnd type="triangle" len="med" w="lg"/>
          </a:ln>
        </p:spPr>
      </p:sp>
      <p:sp>
        <p:nvSpPr>
          <p:cNvPr name="TextBox 10" id="10"/>
          <p:cNvSpPr txBox="true"/>
          <p:nvPr/>
        </p:nvSpPr>
        <p:spPr>
          <a:xfrm rot="0">
            <a:off x="7982531" y="5554104"/>
            <a:ext cx="274320" cy="51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71780" y="6424460"/>
            <a:ext cx="274320" cy="51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76432" y="1977428"/>
            <a:ext cx="12135145" cy="177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Em um jogo, qual a relação entre um Personagem e um Item?</a:t>
            </a:r>
          </a:p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Um Personagem pode ter vários Itens(M), mas os Itens podem ser equipados por Personagens distintos(N)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127394" y="175060"/>
            <a:ext cx="6033211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Relacionamento N:M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585227" y="2273808"/>
            <a:ext cx="15117556" cy="3700567"/>
            <a:chOff x="0" y="0"/>
            <a:chExt cx="20156742" cy="49340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56678" cy="4934077"/>
            </a:xfrm>
            <a:custGeom>
              <a:avLst/>
              <a:gdLst/>
              <a:ahLst/>
              <a:cxnLst/>
              <a:rect r="r" b="b" t="t" l="l"/>
              <a:pathLst>
                <a:path h="4934077" w="20156678">
                  <a:moveTo>
                    <a:pt x="0" y="0"/>
                  </a:moveTo>
                  <a:lnTo>
                    <a:pt x="20156678" y="0"/>
                  </a:lnTo>
                  <a:lnTo>
                    <a:pt x="20156678" y="4934077"/>
                  </a:lnTo>
                  <a:lnTo>
                    <a:pt x="0" y="49340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829989" y="7157933"/>
            <a:ext cx="16628012" cy="2329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Nesse caso, é preciso criar uma tabela intermediária(o model cria automaticamente, mas no Script é necessária sua implementação). As chaves primárias de cada uma das entidades vira uma das chaves entrangeiras dessa tabela intermediária. É possível inserir atributos nesta tabela nova, como foi feito com “capArmazenamento”.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20391" y="127521"/>
            <a:ext cx="16447208" cy="7473401"/>
            <a:chOff x="0" y="0"/>
            <a:chExt cx="21929611" cy="99645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29598" cy="9964547"/>
            </a:xfrm>
            <a:custGeom>
              <a:avLst/>
              <a:gdLst/>
              <a:ahLst/>
              <a:cxnLst/>
              <a:rect r="r" b="b" t="t" l="l"/>
              <a:pathLst>
                <a:path h="9964547" w="21929598">
                  <a:moveTo>
                    <a:pt x="0" y="0"/>
                  </a:moveTo>
                  <a:lnTo>
                    <a:pt x="21929598" y="0"/>
                  </a:lnTo>
                  <a:lnTo>
                    <a:pt x="21929598" y="9964547"/>
                  </a:lnTo>
                  <a:lnTo>
                    <a:pt x="0" y="99645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37442" y="556617"/>
            <a:ext cx="17013117" cy="9173766"/>
            <a:chOff x="0" y="0"/>
            <a:chExt cx="22684156" cy="122316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84152" cy="12231684"/>
            </a:xfrm>
            <a:custGeom>
              <a:avLst/>
              <a:gdLst/>
              <a:ahLst/>
              <a:cxnLst/>
              <a:rect r="r" b="b" t="t" l="l"/>
              <a:pathLst>
                <a:path h="12231684" w="22684152">
                  <a:moveTo>
                    <a:pt x="0" y="0"/>
                  </a:moveTo>
                  <a:lnTo>
                    <a:pt x="22684152" y="0"/>
                  </a:lnTo>
                  <a:lnTo>
                    <a:pt x="22684152" y="12231684"/>
                  </a:lnTo>
                  <a:lnTo>
                    <a:pt x="0" y="122316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247" t="0" r="-26247" b="-1021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2684156" cy="122412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Exercício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</a:t>
              </a: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RunTracker é uma plataforma que organiza circuitos d</a:t>
              </a: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</a:t>
              </a: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corr</a:t>
              </a: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</a:t>
              </a: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</a:t>
              </a: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</a:t>
              </a: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 rua pelo país e precisa de um modelo de banco de dados para controlar suas provas, arenas de prova, inscrições dos atletas e kits de prova.</a:t>
              </a:r>
            </a:p>
            <a:p>
              <a:pPr algn="l">
                <a:lnSpc>
                  <a:spcPts val="2879"/>
                </a:lnSpc>
              </a:pPr>
            </a:p>
            <a:p>
              <a:pPr algn="l" marL="518160" indent="-259080" lvl="1">
                <a:lnSpc>
                  <a:spcPts val="2879"/>
                </a:lnSpc>
                <a:buAutoNum type="arabicPeriod" startAt="1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Provas (Corridas)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Cada Prova deve ter um identificador próprio (idProva);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Nome da Corrida (Ex.: Maratona Noturna, 5K Solidário);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Modalidade (Caminhada, 5K, 10K, MeiaMaratona, Maratona);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Valor da Taxa de Inscrição (em Reais);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Distância Total (em metros).</a:t>
              </a:r>
            </a:p>
            <a:p>
              <a:pPr algn="l">
                <a:lnSpc>
                  <a:spcPts val="2879"/>
                </a:lnSpc>
              </a:pPr>
            </a:p>
            <a:p>
              <a:pPr algn="l" marL="518160" indent="-259080" lvl="1">
                <a:lnSpc>
                  <a:spcPts val="2879"/>
                </a:lnSpc>
                <a:buAutoNum type="arabicPeriod" startAt="1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Arenas de Prova (Locais)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Cada Arena possui um código único (idArena);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Nome do Local (Ex.: Parque das Águas, Orla Central);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Cidade / UF;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Responsável da Infraestrutura;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Indicador </a:t>
              </a:r>
              <a:r>
                <a:rPr lang="en-US" sz="2400" u="none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opcional</a:t>
              </a: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de disponibilidade de Cronometragem Eletrônica (Sim/Não).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Uma prova pode ser realizada em diferentes arenas ao longo do circuito, e uma mesma arena pode sediar várias provas distintas ao longo do ano.</a:t>
              </a:r>
            </a:p>
            <a:p>
              <a:pPr algn="l" marL="434340" indent="-217170" lvl="1">
                <a:lnSpc>
                  <a:spcPts val="2879"/>
                </a:lnSpc>
              </a:pPr>
            </a:p>
            <a:p>
              <a:pPr algn="l" marL="434340" indent="-217170" lvl="1">
                <a:lnSpc>
                  <a:spcPts val="2879"/>
                </a:lnSpc>
              </a:pPr>
            </a:p>
            <a:p>
              <a:pPr algn="l" marL="434340" indent="-217170" lvl="1">
                <a:lnSpc>
                  <a:spcPts val="2879"/>
                </a:lnSpc>
              </a:pPr>
            </a:p>
            <a:p>
              <a:pPr algn="l" marL="434340" indent="-217170" lvl="1">
                <a:lnSpc>
                  <a:spcPts val="2879"/>
                </a:lnSpc>
              </a:pPr>
            </a:p>
            <a:p>
              <a:pPr algn="l" marL="434340" indent="-217170" lvl="1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</a:p>
            <a:p>
              <a:pPr algn="l" marL="434340" indent="-217170" lvl="1">
                <a:lnSpc>
                  <a:spcPts val="2879"/>
                </a:lnSpc>
              </a:pP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37442" y="272936"/>
            <a:ext cx="17013117" cy="9741128"/>
            <a:chOff x="0" y="0"/>
            <a:chExt cx="22684156" cy="129881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84152" cy="12988165"/>
            </a:xfrm>
            <a:custGeom>
              <a:avLst/>
              <a:gdLst/>
              <a:ahLst/>
              <a:cxnLst/>
              <a:rect r="r" b="b" t="t" l="l"/>
              <a:pathLst>
                <a:path h="12988165" w="22684152">
                  <a:moveTo>
                    <a:pt x="0" y="0"/>
                  </a:moveTo>
                  <a:lnTo>
                    <a:pt x="22684152" y="0"/>
                  </a:lnTo>
                  <a:lnTo>
                    <a:pt x="22684152" y="12988165"/>
                  </a:lnTo>
                  <a:lnTo>
                    <a:pt x="0" y="129881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462" t="0" r="-23462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2684156" cy="129976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Exercício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RunTracker é uma plataforma que organiza circuitos de corridas de rua pelo país e precisa de um modelo de banco de dados para controlar suas provas, arenas de prova, inscrições dos atletas e kits de prova.</a:t>
              </a: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3. Atletas (Corredores)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CPF (Identificador único);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Nome Completo;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Equipe / Assessoria Esportiva;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E-mail para confirmação;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Categoria de Desempenho (Nível de 1 a 10).</a:t>
              </a: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4. Inscrições (Transação)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 sistema deve registrar a Inscrição do atleta, garantindo que ele se inscreva em uma prova específica associada ao resgate de um kit;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</a:t>
              </a: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 o Valor Total Pago na inscrição;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Forma de Pagamento (Pix, Cartao, Boleto);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Número de Peito Único gerado para a prova;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identificação do registro é definida compostamente pelo CPF do Atleta em conjunto com o ID da Prova.</a:t>
              </a: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5. Logística de Kits (Fornecedor do Kit)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Código de Identificação Único da Loteadora/Fornecedora do Kit;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Limite para Retirada do Kit;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Custo Logístico de Envio (aceita centavos).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Uma única fornecedora de kits gerencia a distribuição dos materiais de todas as inscrições do circuito, e cada inscrição fica vinculada exclusivamente a esta fornecedora.</a:t>
              </a:r>
            </a:p>
            <a:p>
              <a:pPr algn="l">
                <a:lnSpc>
                  <a:spcPts val="2879"/>
                </a:lnSpc>
              </a:pP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37442" y="737592"/>
            <a:ext cx="17013117" cy="8811816"/>
            <a:chOff x="0" y="0"/>
            <a:chExt cx="22684156" cy="1174908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84152" cy="11749082"/>
            </a:xfrm>
            <a:custGeom>
              <a:avLst/>
              <a:gdLst/>
              <a:ahLst/>
              <a:cxnLst/>
              <a:rect r="r" b="b" t="t" l="l"/>
              <a:pathLst>
                <a:path h="11749082" w="22684152">
                  <a:moveTo>
                    <a:pt x="0" y="0"/>
                  </a:moveTo>
                  <a:lnTo>
                    <a:pt x="22684152" y="0"/>
                  </a:lnTo>
                  <a:lnTo>
                    <a:pt x="22684152" y="11749082"/>
                  </a:lnTo>
                  <a:lnTo>
                    <a:pt x="0" y="117490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462" t="0" r="-23462" b="-1054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2684156" cy="117586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Exercício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</a:t>
              </a: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RunTracker é uma plataforma que organiza circuitos de </a:t>
              </a: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</a:t>
              </a: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rri</a:t>
              </a: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</a:t>
              </a: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</a:t>
              </a: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</a:t>
              </a: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de rua pelo país e precisa de um modelo de banco de dados para controlar suas provas, arenas de prova, inscrições dos atletas e kits de prova.</a:t>
              </a: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6. Relatórios Médicos / Anamnese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Antes ou após as provas, o atleta pode preencher uma Ficha Médica na plataforma;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ficha contém o Nível de Aptidão Física (de 1 a 5);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Um campo para Observações / Restr</a:t>
              </a: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ições Médicas do atleta;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Essa ficha fica associada diretamente ao CPF do Atleta.</a:t>
              </a:r>
            </a:p>
            <a:p>
              <a:pPr algn="l">
                <a:lnSpc>
                  <a:spcPts val="2879"/>
                </a:lnSpc>
              </a:pPr>
            </a:p>
            <a:p>
              <a:pPr algn="l" marL="434340" indent="-217170" lvl="1">
                <a:lnSpc>
                  <a:spcPts val="2879"/>
                </a:lnSpc>
              </a:pPr>
            </a:p>
            <a:p>
              <a:pPr algn="l" marL="434340" indent="-217170" lvl="1">
                <a:lnSpc>
                  <a:spcPts val="2879"/>
                </a:lnSpc>
              </a:pPr>
            </a:p>
            <a:p>
              <a:pPr algn="l" marL="434340" indent="-217170" lvl="1">
                <a:lnSpc>
                  <a:spcPts val="2879"/>
                </a:lnSpc>
              </a:pPr>
            </a:p>
            <a:p>
              <a:pPr algn="l" marL="434340" indent="-217170" lvl="1">
                <a:lnSpc>
                  <a:spcPts val="2879"/>
                </a:lnSpc>
              </a:pPr>
            </a:p>
            <a:p>
              <a:pPr algn="l" marL="434340" indent="-217170" lvl="1">
                <a:lnSpc>
                  <a:spcPts val="2879"/>
                </a:lnSpc>
              </a:pPr>
            </a:p>
            <a:p>
              <a:pPr algn="l" marL="434340" indent="-217170" lvl="1">
                <a:lnSpc>
                  <a:spcPts val="2879"/>
                </a:lnSpc>
              </a:pPr>
            </a:p>
            <a:p>
              <a:pPr algn="l" marL="434340" indent="-217170" lvl="1">
                <a:lnSpc>
                  <a:spcPts val="2879"/>
                </a:lnSpc>
              </a:pPr>
            </a:p>
            <a:p>
              <a:pPr algn="l" marL="434340" indent="-217170" lvl="1">
                <a:lnSpc>
                  <a:spcPts val="2879"/>
                </a:lnSpc>
              </a:pPr>
            </a:p>
            <a:p>
              <a:pPr algn="l" marL="434340" indent="-217170" lvl="1">
                <a:lnSpc>
                  <a:spcPts val="2879"/>
                </a:lnSpc>
              </a:pPr>
            </a:p>
            <a:p>
              <a:pPr algn="l" marL="434340" indent="-217170" lvl="1">
                <a:lnSpc>
                  <a:spcPts val="2879"/>
                </a:lnSpc>
              </a:pPr>
            </a:p>
            <a:p>
              <a:pPr algn="l" marL="434340" indent="-217170" lvl="1">
                <a:lnSpc>
                  <a:spcPts val="2879"/>
                </a:lnSpc>
              </a:pPr>
            </a:p>
            <a:p>
              <a:pPr algn="l" marL="434340" indent="-217170" lvl="1">
                <a:lnSpc>
                  <a:spcPts val="2879"/>
                </a:lnSpc>
              </a:pPr>
            </a:p>
            <a:p>
              <a:pPr algn="l" marL="434340" indent="-217170" lvl="1">
                <a:lnSpc>
                  <a:spcPts val="2879"/>
                </a:lnSpc>
              </a:pPr>
            </a:p>
            <a:p>
              <a:pPr algn="l" marL="434340" indent="-217170" lvl="1">
                <a:lnSpc>
                  <a:spcPts val="2879"/>
                </a:lnSpc>
              </a:pP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977890" y="3475225"/>
            <a:ext cx="6332220" cy="3007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>
                <a:solidFill>
                  <a:srgbClr val="2E75B6"/>
                </a:solidFill>
                <a:latin typeface="Calibri (MS)"/>
                <a:ea typeface="Calibri (MS)"/>
                <a:cs typeface="Calibri (MS)"/>
                <a:sym typeface="Calibri (MS)"/>
              </a:rPr>
              <a:t>AULA CONCLUÍDA!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DAHTcLbITdU</dc:identifier>
  <dcterms:modified xsi:type="dcterms:W3CDTF">2011-08-01T06:04:30Z</dcterms:modified>
  <cp:revision>1</cp:revision>
  <dc:title>Models.pptx</dc:title>
</cp:coreProperties>
</file>